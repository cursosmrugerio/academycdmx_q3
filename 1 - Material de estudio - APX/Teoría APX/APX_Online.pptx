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Condensed"/>
      <p:regular r:id="rId26"/>
      <p:bold r:id="rId27"/>
      <p:italic r:id="rId28"/>
      <p:boldItalic r:id="rId29"/>
    </p:embeddedFont>
    <p:embeddedFont>
      <p:font typeface="Merriweather"/>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654">
          <p15:clr>
            <a:srgbClr val="A4A3A4"/>
          </p15:clr>
        </p15:guide>
        <p15:guide id="2" pos="3243">
          <p15:clr>
            <a:srgbClr val="A4A3A4"/>
          </p15:clr>
        </p15:guide>
        <p15:guide id="3" orient="horz" pos="1620">
          <p15:clr>
            <a:srgbClr val="A4A3A4"/>
          </p15:clr>
        </p15:guide>
      </p15:sldGuideLst>
    </p:ext>
    <p:ext uri="GoogleSlidesCustomDataVersion2">
      <go:slidesCustomData xmlns:go="http://customooxmlschemas.google.com/" r:id="rId34" roundtripDataSignature="AMtx7mhy6tPiDa41/p+lP5qzAQxREiny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654"/>
        <p:guide pos="3243"/>
        <p:guide pos="162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Condensed-regular.fntdata"/><Relationship Id="rId25" Type="http://schemas.openxmlformats.org/officeDocument/2006/relationships/slide" Target="slides/slide20.xml"/><Relationship Id="rId28" Type="http://schemas.openxmlformats.org/officeDocument/2006/relationships/font" Target="fonts/RobotoCondensed-italic.fntdata"/><Relationship Id="rId27" Type="http://schemas.openxmlformats.org/officeDocument/2006/relationships/font" Target="fonts/RobotoCondense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Condense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erriweather-bold.fntdata"/><Relationship Id="rId30" Type="http://schemas.openxmlformats.org/officeDocument/2006/relationships/font" Target="fonts/Merriweather-regular.fntdata"/><Relationship Id="rId11" Type="http://schemas.openxmlformats.org/officeDocument/2006/relationships/slide" Target="slides/slide6.xml"/><Relationship Id="rId33" Type="http://schemas.openxmlformats.org/officeDocument/2006/relationships/font" Target="fonts/Merriweather-boldItalic.fntdata"/><Relationship Id="rId10" Type="http://schemas.openxmlformats.org/officeDocument/2006/relationships/slide" Target="slides/slide5.xml"/><Relationship Id="rId32" Type="http://schemas.openxmlformats.org/officeDocument/2006/relationships/font" Target="fonts/Merriweather-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 name="Google Shape;3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 name="Google Shape;3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b="1" lang="en-US" sz="1000"/>
              <a:t>APX Transaction</a:t>
            </a:r>
            <a:r>
              <a:rPr lang="en-US" sz="1000"/>
              <a:t>: A transaction is the application unit to be executed in APX Online. It defines the Transactional Unit at the application logic level. </a:t>
            </a:r>
            <a:endParaRPr/>
          </a:p>
          <a:p>
            <a:pPr indent="0" lvl="0" marL="158750" rtl="0" algn="l">
              <a:lnSpc>
                <a:spcPct val="100000"/>
              </a:lnSpc>
              <a:spcBef>
                <a:spcPts val="0"/>
              </a:spcBef>
              <a:spcAft>
                <a:spcPts val="0"/>
              </a:spcAft>
              <a:buSzPts val="1100"/>
              <a:buNone/>
            </a:pPr>
            <a:r>
              <a:rPr b="1" lang="en-US" sz="1000"/>
              <a:t>APX Library</a:t>
            </a:r>
            <a:r>
              <a:rPr lang="en-US" sz="1000"/>
              <a:t>: Encapsulates the business logic and the access to the data. It publishes its interface so that it can be used by third parties.</a:t>
            </a:r>
            <a:endParaRPr/>
          </a:p>
          <a:p>
            <a:pPr indent="0" lvl="0" marL="158750" rtl="0" algn="l">
              <a:lnSpc>
                <a:spcPct val="100000"/>
              </a:lnSpc>
              <a:spcBef>
                <a:spcPts val="0"/>
              </a:spcBef>
              <a:spcAft>
                <a:spcPts val="0"/>
              </a:spcAft>
              <a:buSzPts val="1100"/>
              <a:buNone/>
            </a:pPr>
            <a:r>
              <a:rPr b="1" lang="en-US" sz="1000"/>
              <a:t>DTO</a:t>
            </a:r>
            <a:r>
              <a:rPr lang="en-US" sz="1000"/>
              <a:t>: Representation of a Business Entity in the form of a Bean.</a:t>
            </a:r>
            <a:endParaRPr/>
          </a:p>
          <a:p>
            <a:pPr indent="-228600" lvl="0" marL="457200" marR="0" rtl="0" algn="l">
              <a:lnSpc>
                <a:spcPct val="100000"/>
              </a:lnSpc>
              <a:spcBef>
                <a:spcPts val="0"/>
              </a:spcBef>
              <a:spcAft>
                <a:spcPts val="0"/>
              </a:spcAft>
              <a:buClr>
                <a:srgbClr val="000000"/>
              </a:buClr>
              <a:buSzPts val="1100"/>
              <a:buFont typeface="Arial"/>
              <a:buNone/>
            </a:pPr>
            <a:r>
              <a:t/>
            </a:r>
            <a:endParaRPr sz="1000"/>
          </a:p>
          <a:p>
            <a:pPr indent="0" lvl="0" marL="158750" rtl="0" algn="l">
              <a:lnSpc>
                <a:spcPct val="100000"/>
              </a:lnSpc>
              <a:spcBef>
                <a:spcPts val="0"/>
              </a:spcBef>
              <a:spcAft>
                <a:spcPts val="0"/>
              </a:spcAft>
              <a:buSzPts val="1100"/>
              <a:buNone/>
            </a:pPr>
            <a:r>
              <a:rPr lang="en-US"/>
              <a:t>The APX Online Architecture is provided with a set of utilities, such as:</a:t>
            </a:r>
            <a:endParaRPr/>
          </a:p>
          <a:p>
            <a:pPr indent="-298450" lvl="0" marL="457200" marR="0" rtl="0" algn="l">
              <a:lnSpc>
                <a:spcPct val="100000"/>
              </a:lnSpc>
              <a:spcBef>
                <a:spcPts val="0"/>
              </a:spcBef>
              <a:spcAft>
                <a:spcPts val="0"/>
              </a:spcAft>
              <a:buClr>
                <a:srgbClr val="000000"/>
              </a:buClr>
              <a:buSzPts val="1100"/>
              <a:buFont typeface="Arial"/>
              <a:buChar char="●"/>
            </a:pPr>
            <a:r>
              <a:rPr lang="en-US"/>
              <a:t>Utilities provided by "special" libraries: These are libraries whose utility can be retrieved by the user from the library itself. These libraries are described in the “Creating libraries” section:</a:t>
            </a:r>
            <a:endParaRPr/>
          </a:p>
          <a:p>
            <a:pPr indent="-298450" lvl="1" marL="914400" rtl="0" algn="l">
              <a:lnSpc>
                <a:spcPct val="100000"/>
              </a:lnSpc>
              <a:spcBef>
                <a:spcPts val="0"/>
              </a:spcBef>
              <a:spcAft>
                <a:spcPts val="0"/>
              </a:spcAft>
              <a:buSzPts val="1100"/>
              <a:buChar char="○"/>
            </a:pPr>
            <a:r>
              <a:rPr lang="en-US"/>
              <a:t>Relational database Libraries.</a:t>
            </a:r>
            <a:endParaRPr/>
          </a:p>
          <a:p>
            <a:pPr indent="-298450" lvl="1" marL="914400" rtl="0" algn="l">
              <a:lnSpc>
                <a:spcPct val="100000"/>
              </a:lnSpc>
              <a:spcBef>
                <a:spcPts val="0"/>
              </a:spcBef>
              <a:spcAft>
                <a:spcPts val="0"/>
              </a:spcAft>
              <a:buSzPts val="1100"/>
              <a:buChar char="○"/>
            </a:pPr>
            <a:r>
              <a:rPr lang="en-US"/>
              <a:t>Rules Engine Libraries.</a:t>
            </a:r>
            <a:endParaRPr/>
          </a:p>
          <a:p>
            <a:pPr indent="-298450" lvl="1" marL="914400" rtl="0" algn="l">
              <a:lnSpc>
                <a:spcPct val="100000"/>
              </a:lnSpc>
              <a:spcBef>
                <a:spcPts val="0"/>
              </a:spcBef>
              <a:spcAft>
                <a:spcPts val="0"/>
              </a:spcAft>
              <a:buSzPts val="1100"/>
              <a:buChar char="○"/>
            </a:pPr>
            <a:r>
              <a:rPr lang="en-US"/>
              <a:t>MongoDB Libraries.</a:t>
            </a:r>
            <a:endParaRPr/>
          </a:p>
          <a:p>
            <a:pPr indent="-298450" lvl="1" marL="914400" rtl="0" algn="l">
              <a:lnSpc>
                <a:spcPct val="100000"/>
              </a:lnSpc>
              <a:spcBef>
                <a:spcPts val="0"/>
              </a:spcBef>
              <a:spcAft>
                <a:spcPts val="0"/>
              </a:spcAft>
              <a:buSzPts val="1100"/>
              <a:buChar char="○"/>
            </a:pPr>
            <a:r>
              <a:rPr lang="en-US"/>
              <a:t>Connectors libraries.</a:t>
            </a:r>
            <a:endParaRPr/>
          </a:p>
          <a:p>
            <a:pPr indent="-298450" lvl="2" marL="1371600" rtl="0" algn="l">
              <a:lnSpc>
                <a:spcPct val="100000"/>
              </a:lnSpc>
              <a:spcBef>
                <a:spcPts val="0"/>
              </a:spcBef>
              <a:spcAft>
                <a:spcPts val="0"/>
              </a:spcAft>
              <a:buSzPts val="1100"/>
              <a:buChar char="■"/>
            </a:pPr>
            <a:r>
              <a:rPr lang="en-US"/>
              <a:t>Interbackend.</a:t>
            </a:r>
            <a:endParaRPr/>
          </a:p>
          <a:p>
            <a:pPr indent="-298450" lvl="2" marL="1371600" rtl="0" algn="l">
              <a:lnSpc>
                <a:spcPct val="100000"/>
              </a:lnSpc>
              <a:spcBef>
                <a:spcPts val="0"/>
              </a:spcBef>
              <a:spcAft>
                <a:spcPts val="0"/>
              </a:spcAft>
              <a:buSzPts val="1100"/>
              <a:buChar char="■"/>
            </a:pPr>
            <a:r>
              <a:rPr lang="en-US"/>
              <a:t>Document Manager.</a:t>
            </a:r>
            <a:endParaRPr/>
          </a:p>
          <a:p>
            <a:pPr indent="-298450" lvl="2" marL="1371600" rtl="0" algn="l">
              <a:lnSpc>
                <a:spcPct val="100000"/>
              </a:lnSpc>
              <a:spcBef>
                <a:spcPts val="0"/>
              </a:spcBef>
              <a:spcAft>
                <a:spcPts val="0"/>
              </a:spcAft>
              <a:buSzPts val="1100"/>
              <a:buChar char="■"/>
            </a:pPr>
            <a:r>
              <a:rPr lang="en-US"/>
              <a:t>Document Creator.</a:t>
            </a:r>
            <a:endParaRPr/>
          </a:p>
          <a:p>
            <a:pPr indent="-298450" lvl="2" marL="1371600" rtl="0" algn="l">
              <a:lnSpc>
                <a:spcPct val="100000"/>
              </a:lnSpc>
              <a:spcBef>
                <a:spcPts val="0"/>
              </a:spcBef>
              <a:spcAft>
                <a:spcPts val="0"/>
              </a:spcAft>
              <a:buSzPts val="1100"/>
              <a:buChar char="■"/>
            </a:pPr>
            <a:r>
              <a:rPr lang="en-US"/>
              <a:t>API Connector.</a:t>
            </a:r>
            <a:endParaRPr/>
          </a:p>
          <a:p>
            <a:pPr indent="-298450" lvl="2" marL="1371600" rtl="0" algn="l">
              <a:lnSpc>
                <a:spcPct val="100000"/>
              </a:lnSpc>
              <a:spcBef>
                <a:spcPts val="0"/>
              </a:spcBef>
              <a:spcAft>
                <a:spcPts val="0"/>
              </a:spcAft>
              <a:buSzPts val="1100"/>
              <a:buChar char="■"/>
            </a:pPr>
            <a:r>
              <a:rPr lang="en-US"/>
              <a:t>…</a:t>
            </a:r>
            <a:endParaRPr/>
          </a:p>
          <a:p>
            <a:pPr indent="-298450" lvl="0" marL="457200" marR="0" rtl="0" algn="l">
              <a:lnSpc>
                <a:spcPct val="100000"/>
              </a:lnSpc>
              <a:spcBef>
                <a:spcPts val="0"/>
              </a:spcBef>
              <a:spcAft>
                <a:spcPts val="0"/>
              </a:spcAft>
              <a:buClr>
                <a:srgbClr val="000000"/>
              </a:buClr>
              <a:buSzPts val="1100"/>
              <a:buFont typeface="Arial"/>
              <a:buChar char="●"/>
            </a:pPr>
            <a:r>
              <a:rPr lang="en-US"/>
              <a:t>Common utilities, described in the “Common utilities” section:</a:t>
            </a:r>
            <a:endParaRPr/>
          </a:p>
          <a:p>
            <a:pPr indent="-298450" lvl="1" marL="914400" rtl="0" algn="l">
              <a:lnSpc>
                <a:spcPct val="100000"/>
              </a:lnSpc>
              <a:spcBef>
                <a:spcPts val="0"/>
              </a:spcBef>
              <a:spcAft>
                <a:spcPts val="0"/>
              </a:spcAft>
              <a:buSzPts val="1100"/>
              <a:buChar char="○"/>
            </a:pPr>
            <a:r>
              <a:rPr lang="en-US"/>
              <a:t>Errors and Warnings.</a:t>
            </a:r>
            <a:endParaRPr/>
          </a:p>
          <a:p>
            <a:pPr indent="-298450" lvl="1" marL="914400" rtl="0" algn="l">
              <a:lnSpc>
                <a:spcPct val="100000"/>
              </a:lnSpc>
              <a:spcBef>
                <a:spcPts val="0"/>
              </a:spcBef>
              <a:spcAft>
                <a:spcPts val="0"/>
              </a:spcAft>
              <a:buSzPts val="1100"/>
              <a:buChar char="○"/>
            </a:pPr>
            <a:r>
              <a:rPr lang="en-US"/>
              <a:t>Trace handling.</a:t>
            </a:r>
            <a:endParaRPr/>
          </a:p>
          <a:p>
            <a:pPr indent="-298450" lvl="1" marL="914400" rtl="0" algn="l">
              <a:lnSpc>
                <a:spcPct val="100000"/>
              </a:lnSpc>
              <a:spcBef>
                <a:spcPts val="0"/>
              </a:spcBef>
              <a:spcAft>
                <a:spcPts val="0"/>
              </a:spcAft>
              <a:buSzPts val="1100"/>
              <a:buChar char="○"/>
            </a:pPr>
            <a:r>
              <a:rPr lang="en-US"/>
              <a:t>Input/output information.</a:t>
            </a:r>
            <a:endParaRPr/>
          </a:p>
          <a:p>
            <a:pPr indent="-298450" lvl="1" marL="914400" rtl="0" algn="l">
              <a:lnSpc>
                <a:spcPct val="100000"/>
              </a:lnSpc>
              <a:spcBef>
                <a:spcPts val="0"/>
              </a:spcBef>
              <a:spcAft>
                <a:spcPts val="0"/>
              </a:spcAft>
              <a:buSzPts val="1100"/>
              <a:buChar char="○"/>
            </a:pPr>
            <a:r>
              <a:rPr lang="en-US"/>
              <a:t>Header data recovery.</a:t>
            </a:r>
            <a:endParaRPr/>
          </a:p>
          <a:p>
            <a:pPr indent="-298450" lvl="1" marL="914400" rtl="0" algn="l">
              <a:lnSpc>
                <a:spcPct val="100000"/>
              </a:lnSpc>
              <a:spcBef>
                <a:spcPts val="0"/>
              </a:spcBef>
              <a:spcAft>
                <a:spcPts val="0"/>
              </a:spcAft>
              <a:buSzPts val="1100"/>
              <a:buChar char="○"/>
            </a:pPr>
            <a:r>
              <a:rPr lang="en-US"/>
              <a:t>…</a:t>
            </a:r>
            <a:endParaRPr/>
          </a:p>
          <a:p>
            <a:pPr indent="-228600" lvl="0" marL="457200" marR="0" rtl="0" algn="l">
              <a:lnSpc>
                <a:spcPct val="100000"/>
              </a:lnSpc>
              <a:spcBef>
                <a:spcPts val="0"/>
              </a:spcBef>
              <a:spcAft>
                <a:spcPts val="0"/>
              </a:spcAft>
              <a:buClr>
                <a:srgbClr val="000000"/>
              </a:buClr>
              <a:buSzPts val="1100"/>
              <a:buFont typeface="Arial"/>
              <a:buNone/>
            </a:pPr>
            <a:r>
              <a:t/>
            </a:r>
            <a:endParaRPr sz="1000"/>
          </a:p>
        </p:txBody>
      </p:sp>
      <p:sp>
        <p:nvSpPr>
          <p:cNvPr id="44" name="Google Shape;4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https://platform.bbva.com/codelabs/apx-online/APX-Codelabs#/apx-online/Environment%20installation/Introduction/</a:t>
            </a:r>
            <a:endParaRPr/>
          </a:p>
        </p:txBody>
      </p:sp>
      <p:sp>
        <p:nvSpPr>
          <p:cNvPr id="50" name="Google Shape;5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
        <p:nvSpPr>
          <p:cNvPr id="57" name="Google Shape;5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Se utilizará este patrón siempre que se requieran algunas de las operaciones básicas  (Create, Read, Update y Delete) sobre una entidad.</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Este patrón se aplica a cualquier medio de almacenamiento (BBDD, archivos, etc</a:t>
            </a:r>
            <a:endParaRPr/>
          </a:p>
          <a:p>
            <a:pPr indent="0" lvl="0" marL="0" rtl="0" algn="l">
              <a:lnSpc>
                <a:spcPct val="100000"/>
              </a:lnSpc>
              <a:spcBef>
                <a:spcPts val="0"/>
              </a:spcBef>
              <a:spcAft>
                <a:spcPts val="0"/>
              </a:spcAft>
              <a:buSzPts val="1100"/>
              <a:buNone/>
            </a:pPr>
            <a:r>
              <a:t/>
            </a:r>
            <a:endParaRPr/>
          </a:p>
        </p:txBody>
      </p:sp>
      <p:sp>
        <p:nvSpPr>
          <p:cNvPr id="63" name="Google Shape;63;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 name="Google Shape;6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
        <p:nvSpPr>
          <p:cNvPr id="76" name="Google Shape;7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La clave del problema es que “The Blob” puede contener un porcentaje muy elevado de responsabilidades dentro de la solución a diseñar.</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”The Blob” normalmente es muy complicada de reutilizar y probar. Puede ser ineficiente o introducir excesiva complejidad si se reutiliza para pequeñas partes de su funcionalidad.</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“The Blob” </a:t>
            </a:r>
            <a:r>
              <a:rPr b="1" i="0" lang="en-US" sz="1100" u="none" cap="none" strike="noStrike">
                <a:solidFill>
                  <a:srgbClr val="000000"/>
                </a:solidFill>
                <a:latin typeface="Arial"/>
                <a:ea typeface="Arial"/>
                <a:cs typeface="Arial"/>
                <a:sym typeface="Arial"/>
              </a:rPr>
              <a:t>puede ser costosa de cargar en memoria</a:t>
            </a:r>
            <a:r>
              <a:rPr b="0" i="0" lang="en-US" sz="1100" u="none" cap="none" strike="noStrike">
                <a:solidFill>
                  <a:srgbClr val="000000"/>
                </a:solidFill>
                <a:latin typeface="Arial"/>
                <a:ea typeface="Arial"/>
                <a:cs typeface="Arial"/>
                <a:sym typeface="Arial"/>
              </a:rPr>
              <a:t>, usando recursos excesivos incluso para operaciones simples.</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Una modificación de “The blob” puede ser crítica para múltiples operativas para librerías dependientes. El volumen de pruebas de regresión puede ser muy alto.</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El despliegue de “The Blob” causa que todas las librerías relacionadas deban reinstalarse, creando un problema de indisponibilidad temporal del servicio y una carga adicional al sistema.</a:t>
            </a:r>
            <a:endParaRPr/>
          </a:p>
        </p:txBody>
      </p:sp>
      <p:sp>
        <p:nvSpPr>
          <p:cNvPr id="82" name="Google Shape;82;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Es muy complicada de probar. Dado que contiene múltiples funcionalidades.</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Alta complejidad ciclomática, ya que son necesarias muchas sentencias de control para realizar correctamente el filtrado.</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Una modificación del método “execute” puede ser crítica para múltiples operativas para librerías dependientes. El volumen de pruebas de regresión puede ser muy alto.</a:t>
            </a:r>
            <a:endParaRPr/>
          </a:p>
        </p:txBody>
      </p:sp>
      <p:sp>
        <p:nvSpPr>
          <p:cNvPr id="89" name="Google Shape;89;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2">
  <p:cSld name="Portada 2">
    <p:bg>
      <p:bgPr>
        <a:blipFill>
          <a:blip r:embed="rId2">
            <a:alphaModFix/>
          </a:blip>
          <a:stretch>
            <a:fillRect/>
          </a:stretch>
        </a:blipFill>
      </p:bgPr>
    </p:bg>
    <p:spTree>
      <p:nvGrpSpPr>
        <p:cNvPr id="6" name="Shape 6"/>
        <p:cNvGrpSpPr/>
        <p:nvPr/>
      </p:nvGrpSpPr>
      <p:grpSpPr>
        <a:xfrm>
          <a:off x="0" y="0"/>
          <a:ext cx="0" cy="0"/>
          <a:chOff x="0" y="0"/>
          <a:chExt cx="0" cy="0"/>
        </a:xfrm>
      </p:grpSpPr>
      <p:sp>
        <p:nvSpPr>
          <p:cNvPr id="7" name="Google Shape;7;p43"/>
          <p:cNvSpPr txBox="1"/>
          <p:nvPr>
            <p:ph type="title"/>
          </p:nvPr>
        </p:nvSpPr>
        <p:spPr>
          <a:xfrm>
            <a:off x="464500" y="1493134"/>
            <a:ext cx="4763158" cy="1944547"/>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8" name="Google Shape;8;p43"/>
          <p:cNvPicPr preferRelativeResize="0"/>
          <p:nvPr/>
        </p:nvPicPr>
        <p:blipFill rotWithShape="1">
          <a:blip r:embed="rId3">
            <a:alphaModFix/>
          </a:blip>
          <a:srcRect b="0" l="0" r="0" t="0"/>
          <a:stretch/>
        </p:blipFill>
        <p:spPr>
          <a:xfrm>
            <a:off x="7034180" y="478650"/>
            <a:ext cx="1604295" cy="50402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conclusión">
  <p:cSld name="Con conclusión">
    <p:spTree>
      <p:nvGrpSpPr>
        <p:cNvPr id="9" name="Shape 9"/>
        <p:cNvGrpSpPr/>
        <p:nvPr/>
      </p:nvGrpSpPr>
      <p:grpSpPr>
        <a:xfrm>
          <a:off x="0" y="0"/>
          <a:ext cx="0" cy="0"/>
          <a:chOff x="0" y="0"/>
          <a:chExt cx="0" cy="0"/>
        </a:xfrm>
      </p:grpSpPr>
      <p:sp>
        <p:nvSpPr>
          <p:cNvPr id="10" name="Google Shape;10;p45"/>
          <p:cNvSpPr/>
          <p:nvPr/>
        </p:nvSpPr>
        <p:spPr>
          <a:xfrm>
            <a:off x="0" y="4490720"/>
            <a:ext cx="9140281" cy="65278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 name="Google Shape;11;p45"/>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accent4"/>
              </a:buClr>
              <a:buSzPts val="2000"/>
              <a:buFont typeface="Arial"/>
              <a:buNone/>
              <a:defRPr b="1" i="0" sz="2000" u="none" cap="none" strike="noStrike">
                <a:solidFill>
                  <a:schemeClr val="accent4"/>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45"/>
          <p:cNvSpPr/>
          <p:nvPr/>
        </p:nvSpPr>
        <p:spPr>
          <a:xfrm>
            <a:off x="8868798" y="0"/>
            <a:ext cx="279399" cy="167640"/>
          </a:xfrm>
          <a:custGeom>
            <a:rect b="b" l="l" r="r" t="t"/>
            <a:pathLst>
              <a:path extrusionOk="0" h="167640" w="279399">
                <a:moveTo>
                  <a:pt x="76201" y="0"/>
                </a:moveTo>
                <a:lnTo>
                  <a:pt x="139699" y="0"/>
                </a:lnTo>
                <a:lnTo>
                  <a:pt x="275202" y="0"/>
                </a:lnTo>
                <a:lnTo>
                  <a:pt x="279399" y="0"/>
                </a:lnTo>
                <a:lnTo>
                  <a:pt x="275202" y="9233"/>
                </a:lnTo>
                <a:lnTo>
                  <a:pt x="275202" y="167640"/>
                </a:lnTo>
                <a:lnTo>
                  <a:pt x="203198" y="167640"/>
                </a:lnTo>
                <a:lnTo>
                  <a:pt x="139699" y="167640"/>
                </a:lnTo>
                <a:lnTo>
                  <a:pt x="0" y="16764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 name="Google Shape;13;p45"/>
          <p:cNvSpPr txBox="1"/>
          <p:nvPr/>
        </p:nvSpPr>
        <p:spPr>
          <a:xfrm>
            <a:off x="8915719" y="31388"/>
            <a:ext cx="212696" cy="107722"/>
          </a:xfrm>
          <a:prstGeom prst="rect">
            <a:avLst/>
          </a:prstGeom>
          <a:noFill/>
          <a:ln>
            <a:noFill/>
          </a:ln>
        </p:spPr>
        <p:txBody>
          <a:bodyPr anchorCtr="0" anchor="t" bIns="0" lIns="0" spcFirstLastPara="1" rIns="0" wrap="square" tIns="0">
            <a:noAutofit/>
          </a:bodyPr>
          <a:lstStyle/>
          <a:p>
            <a:pPr indent="0" lvl="0" marL="0" marR="5143" rtl="0" algn="ctr">
              <a:lnSpc>
                <a:spcPct val="100000"/>
              </a:lnSpc>
              <a:spcBef>
                <a:spcPts val="0"/>
              </a:spcBef>
              <a:spcAft>
                <a:spcPts val="0"/>
              </a:spcAft>
              <a:buClr>
                <a:srgbClr val="000000"/>
              </a:buClr>
              <a:buSzPts val="700"/>
              <a:buFont typeface="Arial"/>
              <a:buNone/>
            </a:pPr>
            <a:fld id="{00000000-1234-1234-1234-123412341234}" type="slidenum">
              <a:rPr b="0" i="0" lang="en-US" sz="700" u="none" cap="none" strike="noStrike">
                <a:solidFill>
                  <a:schemeClr val="lt1"/>
                </a:solidFill>
                <a:latin typeface="Arial"/>
                <a:ea typeface="Arial"/>
                <a:cs typeface="Arial"/>
                <a:sym typeface="Arial"/>
              </a:rPr>
              <a:t>‹#›</a:t>
            </a:fld>
            <a:endParaRPr b="1" i="0" sz="900" u="none" cap="none" strike="noStrike">
              <a:solidFill>
                <a:schemeClr val="lt1"/>
              </a:solidFill>
              <a:latin typeface="Arial"/>
              <a:ea typeface="Arial"/>
              <a:cs typeface="Arial"/>
              <a:sym typeface="Arial"/>
            </a:endParaRPr>
          </a:p>
        </p:txBody>
      </p:sp>
      <p:sp>
        <p:nvSpPr>
          <p:cNvPr id="14" name="Google Shape;14;p45"/>
          <p:cNvSpPr txBox="1"/>
          <p:nvPr/>
        </p:nvSpPr>
        <p:spPr>
          <a:xfrm>
            <a:off x="7621981" y="31388"/>
            <a:ext cx="1214843" cy="107722"/>
          </a:xfrm>
          <a:prstGeom prst="rect">
            <a:avLst/>
          </a:prstGeom>
          <a:noFill/>
          <a:ln>
            <a:noFill/>
          </a:ln>
        </p:spPr>
        <p:txBody>
          <a:bodyPr anchorCtr="0" anchor="t" bIns="0" lIns="0" spcFirstLastPara="1" rIns="0" wrap="square" tIns="0">
            <a:noAutofit/>
          </a:bodyPr>
          <a:lstStyle/>
          <a:p>
            <a:pPr indent="0" lvl="0" marL="0" marR="5143" rtl="0" algn="r">
              <a:lnSpc>
                <a:spcPct val="100000"/>
              </a:lnSpc>
              <a:spcBef>
                <a:spcPts val="0"/>
              </a:spcBef>
              <a:spcAft>
                <a:spcPts val="0"/>
              </a:spcAft>
              <a:buClr>
                <a:srgbClr val="000000"/>
              </a:buClr>
              <a:buSzPts val="700"/>
              <a:buFont typeface="Arial"/>
              <a:buNone/>
            </a:pPr>
            <a:r>
              <a:rPr b="0" i="0" lang="en-US" sz="700" u="none" cap="none" strike="noStrike">
                <a:solidFill>
                  <a:schemeClr val="accent3"/>
                </a:solidFill>
                <a:latin typeface="Arial"/>
                <a:ea typeface="Arial"/>
                <a:cs typeface="Arial"/>
                <a:sym typeface="Arial"/>
              </a:rPr>
              <a:t>Título presentación</a:t>
            </a:r>
            <a:endParaRPr b="1" i="0" sz="700" u="none" cap="none" strike="noStrike">
              <a:solidFill>
                <a:schemeClr val="accent3"/>
              </a:solidFill>
              <a:latin typeface="Arial"/>
              <a:ea typeface="Arial"/>
              <a:cs typeface="Arial"/>
              <a:sym typeface="Arial"/>
            </a:endParaRPr>
          </a:p>
        </p:txBody>
      </p:sp>
    </p:spTree>
  </p:cSld>
  <p:clrMapOvr>
    <a:masterClrMapping/>
  </p:clrMapOvr>
  <p:extLst>
    <p:ext uri="{DCECCB84-F9BA-43D5-87BE-67443E8EF086}">
      <p15:sldGuideLst>
        <p15:guide id="1" orient="horz" pos="306">
          <p15:clr>
            <a:srgbClr val="FBAE40"/>
          </p15:clr>
        </p15:guide>
        <p15:guide id="2" pos="311">
          <p15:clr>
            <a:srgbClr val="FBAE40"/>
          </p15:clr>
        </p15:guide>
        <p15:guide id="3" pos="5653">
          <p15:clr>
            <a:srgbClr val="FBAE40"/>
          </p15:clr>
        </p15:guide>
        <p15:guide id="4" orient="horz" pos="283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1">
  <p:cSld name="Portada 1">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7"/>
          <p:cNvSpPr txBox="1"/>
          <p:nvPr>
            <p:ph type="title"/>
          </p:nvPr>
        </p:nvSpPr>
        <p:spPr>
          <a:xfrm>
            <a:off x="464500" y="1493134"/>
            <a:ext cx="4763158" cy="1944547"/>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17" name="Google Shape;17;p47"/>
          <p:cNvPicPr preferRelativeResize="0"/>
          <p:nvPr/>
        </p:nvPicPr>
        <p:blipFill rotWithShape="1">
          <a:blip r:embed="rId3">
            <a:alphaModFix/>
          </a:blip>
          <a:srcRect b="0" l="0" r="0" t="0"/>
          <a:stretch/>
        </p:blipFill>
        <p:spPr>
          <a:xfrm>
            <a:off x="497221" y="474424"/>
            <a:ext cx="1872127" cy="48188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ción">
  <p:cSld name="Sección">
    <p:bg>
      <p:bgPr>
        <a:blipFill>
          <a:blip r:embed="rId2">
            <a:alphaModFix/>
          </a:blip>
          <a:stretch>
            <a:fillRect/>
          </a:stretch>
        </a:blipFill>
      </p:bgPr>
    </p:bg>
    <p:spTree>
      <p:nvGrpSpPr>
        <p:cNvPr id="18" name="Shape 18"/>
        <p:cNvGrpSpPr/>
        <p:nvPr/>
      </p:nvGrpSpPr>
      <p:grpSpPr>
        <a:xfrm>
          <a:off x="0" y="0"/>
          <a:ext cx="0" cy="0"/>
          <a:chOff x="0" y="0"/>
          <a:chExt cx="0" cy="0"/>
        </a:xfrm>
      </p:grpSpPr>
      <p:pic>
        <p:nvPicPr>
          <p:cNvPr id="19" name="Google Shape;19;p48"/>
          <p:cNvPicPr preferRelativeResize="0"/>
          <p:nvPr/>
        </p:nvPicPr>
        <p:blipFill rotWithShape="1">
          <a:blip r:embed="rId3">
            <a:alphaModFix/>
          </a:blip>
          <a:srcRect b="0" l="0" r="0" t="0"/>
          <a:stretch/>
        </p:blipFill>
        <p:spPr>
          <a:xfrm>
            <a:off x="7034180" y="478650"/>
            <a:ext cx="1604295" cy="504020"/>
          </a:xfrm>
          <a:prstGeom prst="rect">
            <a:avLst/>
          </a:prstGeom>
          <a:noFill/>
          <a:ln>
            <a:noFill/>
          </a:ln>
        </p:spPr>
      </p:pic>
      <p:sp>
        <p:nvSpPr>
          <p:cNvPr id="20" name="Google Shape;20;p48"/>
          <p:cNvSpPr txBox="1"/>
          <p:nvPr>
            <p:ph type="title"/>
          </p:nvPr>
        </p:nvSpPr>
        <p:spPr>
          <a:xfrm>
            <a:off x="410293" y="2045886"/>
            <a:ext cx="4897556" cy="1569240"/>
          </a:xfrm>
          <a:prstGeom prst="rect">
            <a:avLst/>
          </a:prstGeom>
          <a:noFill/>
          <a:ln>
            <a:noFill/>
          </a:ln>
        </p:spPr>
        <p:txBody>
          <a:bodyPr anchorCtr="0" anchor="t" bIns="45700" lIns="91425" spcFirstLastPara="1" rIns="91425" wrap="square" tIns="45700">
            <a:noAutofit/>
          </a:bodyPr>
          <a:lstStyle>
            <a:lvl1pPr lvl="0" marR="0" rtl="0" algn="l">
              <a:lnSpc>
                <a:spcPct val="11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y texto">
  <p:cSld name="Foto y texto">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49"/>
          <p:cNvSpPr/>
          <p:nvPr>
            <p:ph idx="2" type="pic"/>
          </p:nvPr>
        </p:nvSpPr>
        <p:spPr>
          <a:xfrm>
            <a:off x="3777188" y="-2"/>
            <a:ext cx="5370878" cy="514615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220"/>
              </a:spcBef>
              <a:spcAft>
                <a:spcPts val="0"/>
              </a:spcAft>
              <a:buClr>
                <a:schemeClr val="accent3"/>
              </a:buClr>
              <a:buSzPts val="1100"/>
              <a:buFont typeface="Arial"/>
              <a:buNone/>
              <a:defRPr b="0" i="0" sz="1100" u="none" cap="none" strike="noStrike">
                <a:solidFill>
                  <a:schemeClr val="accent3"/>
                </a:solidFill>
                <a:latin typeface="Arial"/>
                <a:ea typeface="Arial"/>
                <a:cs typeface="Arial"/>
                <a:sym typeface="Arial"/>
              </a:defRPr>
            </a:lvl1pPr>
            <a:lvl2pPr lvl="1"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lvl="2"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id="23" name="Google Shape;23;p49"/>
          <p:cNvPicPr preferRelativeResize="0"/>
          <p:nvPr/>
        </p:nvPicPr>
        <p:blipFill rotWithShape="1">
          <a:blip r:embed="rId3">
            <a:alphaModFix/>
          </a:blip>
          <a:srcRect b="0" l="0" r="0" t="0"/>
          <a:stretch/>
        </p:blipFill>
        <p:spPr>
          <a:xfrm>
            <a:off x="497221" y="474424"/>
            <a:ext cx="1872127" cy="481886"/>
          </a:xfrm>
          <a:prstGeom prst="rect">
            <a:avLst/>
          </a:prstGeom>
          <a:noFill/>
          <a:ln>
            <a:noFill/>
          </a:ln>
        </p:spPr>
      </p:pic>
      <p:sp>
        <p:nvSpPr>
          <p:cNvPr id="24" name="Google Shape;24;p49"/>
          <p:cNvSpPr txBox="1"/>
          <p:nvPr>
            <p:ph type="title"/>
          </p:nvPr>
        </p:nvSpPr>
        <p:spPr>
          <a:xfrm>
            <a:off x="474360" y="1658126"/>
            <a:ext cx="3121647" cy="2258940"/>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50"/>
          <p:cNvSpPr txBox="1"/>
          <p:nvPr>
            <p:ph idx="12" type="sldNum"/>
          </p:nvPr>
        </p:nvSpPr>
        <p:spPr>
          <a:xfrm>
            <a:off x="8556791" y="4749851"/>
            <a:ext cx="548700" cy="393600"/>
          </a:xfrm>
          <a:prstGeom prst="rect">
            <a:avLst/>
          </a:prstGeom>
          <a:noFill/>
          <a:ln>
            <a:noFill/>
          </a:ln>
        </p:spPr>
        <p:txBody>
          <a:bodyPr anchorCtr="0" anchor="ctr" bIns="71100" lIns="71100" spcFirstLastPara="1" rIns="71100" wrap="square" tIns="71100">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999999"/>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7" name="Google Shape;27;p50"/>
          <p:cNvSpPr txBox="1"/>
          <p:nvPr/>
        </p:nvSpPr>
        <p:spPr>
          <a:xfrm>
            <a:off x="172075" y="217025"/>
            <a:ext cx="8796300" cy="549000"/>
          </a:xfrm>
          <a:prstGeom prst="rect">
            <a:avLst/>
          </a:prstGeom>
          <a:noFill/>
          <a:ln>
            <a:noFill/>
          </a:ln>
        </p:spPr>
        <p:txBody>
          <a:bodyPr anchorCtr="0" anchor="t" bIns="94800" lIns="94800" spcFirstLastPara="1" rIns="94800" wrap="square" tIns="94800">
            <a:noAutofit/>
          </a:bodyPr>
          <a:lstStyle/>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434343"/>
              </a:solidFill>
              <a:latin typeface="Roboto Condensed"/>
              <a:ea typeface="Roboto Condensed"/>
              <a:cs typeface="Roboto Condensed"/>
              <a:sym typeface="Roboto Condensed"/>
            </a:endParaRPr>
          </a:p>
        </p:txBody>
      </p:sp>
      <p:sp>
        <p:nvSpPr>
          <p:cNvPr id="28" name="Google Shape;28;p50"/>
          <p:cNvSpPr txBox="1"/>
          <p:nvPr/>
        </p:nvSpPr>
        <p:spPr>
          <a:xfrm>
            <a:off x="311700" y="216425"/>
            <a:ext cx="8520600" cy="572700"/>
          </a:xfrm>
          <a:prstGeom prst="rect">
            <a:avLst/>
          </a:prstGeom>
          <a:noFill/>
          <a:ln>
            <a:noFill/>
          </a:ln>
        </p:spPr>
        <p:txBody>
          <a:bodyPr anchorCtr="0" anchor="t" bIns="94800" lIns="94800" spcFirstLastPara="1" rIns="94800" wrap="square" tIns="94800">
            <a:noAutofit/>
          </a:bodyPr>
          <a:lstStyle/>
          <a:p>
            <a:pPr indent="0" lvl="0" marL="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434343"/>
              </a:solidFill>
              <a:latin typeface="Merriweather"/>
              <a:ea typeface="Merriweather"/>
              <a:cs typeface="Merriweather"/>
              <a:sym typeface="Merriweathe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1"/>
          <p:cNvSpPr txBox="1"/>
          <p:nvPr>
            <p:ph type="title"/>
          </p:nvPr>
        </p:nvSpPr>
        <p:spPr>
          <a:xfrm>
            <a:off x="464500" y="1162100"/>
            <a:ext cx="5692200" cy="19008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chemeClr val="lt1"/>
              </a:buClr>
              <a:buSzPts val="3600"/>
              <a:buFont typeface="Arial"/>
              <a:buNone/>
            </a:pPr>
            <a:r>
              <a:rPr lang="en-US"/>
              <a:t>APX Online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3"/>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What is APX?</a:t>
            </a:r>
            <a:endParaRPr/>
          </a:p>
        </p:txBody>
      </p:sp>
      <p:sp>
        <p:nvSpPr>
          <p:cNvPr id="39" name="Google Shape;39;p3"/>
          <p:cNvSpPr txBox="1"/>
          <p:nvPr/>
        </p:nvSpPr>
        <p:spPr>
          <a:xfrm>
            <a:off x="471600" y="1071750"/>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 name="Google Shape;40;p3"/>
          <p:cNvPicPr preferRelativeResize="0"/>
          <p:nvPr/>
        </p:nvPicPr>
        <p:blipFill rotWithShape="1">
          <a:blip r:embed="rId3">
            <a:alphaModFix/>
          </a:blip>
          <a:srcRect b="0" l="0" r="0" t="0"/>
          <a:stretch/>
        </p:blipFill>
        <p:spPr>
          <a:xfrm>
            <a:off x="5455083" y="2503891"/>
            <a:ext cx="3217317" cy="1567859"/>
          </a:xfrm>
          <a:prstGeom prst="rect">
            <a:avLst/>
          </a:prstGeom>
          <a:noFill/>
          <a:ln>
            <a:noFill/>
          </a:ln>
        </p:spPr>
      </p:pic>
      <p:sp>
        <p:nvSpPr>
          <p:cNvPr id="41" name="Google Shape;41;p3"/>
          <p:cNvSpPr txBox="1"/>
          <p:nvPr/>
        </p:nvSpPr>
        <p:spPr>
          <a:xfrm>
            <a:off x="471600" y="1003891"/>
            <a:ext cx="68841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APX Architecture or Extended Java Backend Architecture was created with the aim of being an </a:t>
            </a:r>
            <a:r>
              <a:rPr b="1" i="0" lang="en-US" sz="1400" u="none" cap="none" strike="noStrike">
                <a:solidFill>
                  <a:srgbClr val="000000"/>
                </a:solidFill>
                <a:latin typeface="Arial"/>
                <a:ea typeface="Arial"/>
                <a:cs typeface="Arial"/>
                <a:sym typeface="Arial"/>
              </a:rPr>
              <a:t>extension of the Backend Architecture</a:t>
            </a:r>
            <a:r>
              <a:rPr b="0" i="0" lang="en-US" sz="1400" u="none" cap="none" strike="noStrike">
                <a:solidFill>
                  <a:srgbClr val="000000"/>
                </a:solidFill>
                <a:latin typeface="Arial"/>
                <a:ea typeface="Arial"/>
                <a:cs typeface="Arial"/>
                <a:sym typeface="Arial"/>
              </a:rPr>
              <a:t> providing the same capabilities</a:t>
            </a:r>
            <a:r>
              <a:rPr b="1" i="0" lang="en-US" sz="1400" u="none" cap="none" strike="noStrike">
                <a:solidFill>
                  <a:srgbClr val="000000"/>
                </a:solidFill>
                <a:latin typeface="Arial"/>
                <a:ea typeface="Arial"/>
                <a:cs typeface="Arial"/>
                <a:sym typeface="Arial"/>
              </a:rPr>
              <a:t> in the distributed world</a:t>
            </a:r>
            <a:r>
              <a:rPr b="0" i="0" lang="en-US" sz="1400" u="none" cap="none" strike="noStrike">
                <a:solidFill>
                  <a:srgbClr val="000000"/>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Based on </a:t>
            </a:r>
            <a:r>
              <a:rPr b="1" i="0" lang="en-US" sz="1400" u="none" cap="none" strike="noStrike">
                <a:solidFill>
                  <a:srgbClr val="000000"/>
                </a:solidFill>
                <a:latin typeface="Arial"/>
                <a:ea typeface="Arial"/>
                <a:cs typeface="Arial"/>
                <a:sym typeface="Arial"/>
              </a:rPr>
              <a:t>open source technologies</a:t>
            </a:r>
            <a:r>
              <a:rPr b="0" i="0" lang="en-US" sz="1400" u="none" cap="none" strike="noStrike">
                <a:solidFill>
                  <a:srgbClr val="000000"/>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Offers a </a:t>
            </a:r>
            <a:r>
              <a:rPr b="1" i="0" lang="en-US" sz="1400" u="none" cap="none" strike="noStrike">
                <a:solidFill>
                  <a:srgbClr val="000000"/>
                </a:solidFill>
                <a:latin typeface="Arial"/>
                <a:ea typeface="Arial"/>
                <a:cs typeface="Arial"/>
                <a:sym typeface="Arial"/>
              </a:rPr>
              <a:t>reliable alternative</a:t>
            </a:r>
            <a:r>
              <a:rPr b="0" i="0" lang="en-US" sz="1400" u="none" cap="none" strike="noStrike">
                <a:solidFill>
                  <a:srgbClr val="000000"/>
                </a:solidFill>
                <a:latin typeface="Arial"/>
                <a:ea typeface="Arial"/>
                <a:cs typeface="Arial"/>
                <a:sym typeface="Arial"/>
              </a:rPr>
              <a:t> for development of transactions that is not coupled to the channel.</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Acts as an </a:t>
            </a:r>
            <a:r>
              <a:rPr b="1" i="0" lang="en-US" sz="1400" u="none" cap="none" strike="noStrike">
                <a:solidFill>
                  <a:srgbClr val="000000"/>
                </a:solidFill>
                <a:latin typeface="Arial"/>
                <a:ea typeface="Arial"/>
                <a:cs typeface="Arial"/>
                <a:sym typeface="Arial"/>
              </a:rPr>
              <a:t>extension </a:t>
            </a:r>
            <a:r>
              <a:rPr b="0" i="0" lang="en-US" sz="1400" u="none" cap="none" strike="noStrike">
                <a:solidFill>
                  <a:srgbClr val="000000"/>
                </a:solidFill>
                <a:latin typeface="Arial"/>
                <a:ea typeface="Arial"/>
                <a:cs typeface="Arial"/>
                <a:sym typeface="Arial"/>
              </a:rPr>
              <a:t>of the</a:t>
            </a:r>
            <a:r>
              <a:rPr b="1" i="0" lang="en-US" sz="1400" u="none" cap="none" strike="noStrike">
                <a:solidFill>
                  <a:srgbClr val="000000"/>
                </a:solidFill>
                <a:latin typeface="Arial"/>
                <a:ea typeface="Arial"/>
                <a:cs typeface="Arial"/>
                <a:sym typeface="Arial"/>
              </a:rPr>
              <a:t> Mainframe</a:t>
            </a:r>
            <a:r>
              <a:rPr b="0" i="0" lang="en-US" sz="1400" u="none" cap="none" strike="noStrike">
                <a:solidFill>
                  <a:srgbClr val="000000"/>
                </a:solidFill>
                <a:latin typeface="Arial"/>
                <a:ea typeface="Arial"/>
                <a:cs typeface="Arial"/>
                <a:sym typeface="Arial"/>
              </a:rPr>
              <a:t> platform.</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Supports the logic of </a:t>
            </a:r>
            <a:r>
              <a:rPr b="1" i="0" lang="en-US" sz="1400" u="none" cap="none" strike="noStrike">
                <a:solidFill>
                  <a:srgbClr val="000000"/>
                </a:solidFill>
                <a:latin typeface="Arial"/>
                <a:ea typeface="Arial"/>
                <a:cs typeface="Arial"/>
                <a:sym typeface="Arial"/>
              </a:rPr>
              <a:t>applications </a:t>
            </a:r>
            <a:r>
              <a:rPr b="0" i="0" lang="en-US" sz="1400" u="none" cap="none" strike="noStrike">
                <a:solidFill>
                  <a:srgbClr val="000000"/>
                </a:solidFill>
                <a:latin typeface="Arial"/>
                <a:ea typeface="Arial"/>
                <a:cs typeface="Arial"/>
                <a:sym typeface="Arial"/>
              </a:rPr>
              <a:t>that are adapted to this </a:t>
            </a:r>
            <a:r>
              <a:rPr b="1" i="0" lang="en-US" sz="1400" u="none" cap="none" strike="noStrike">
                <a:solidFill>
                  <a:srgbClr val="000000"/>
                </a:solidFill>
                <a:latin typeface="Arial"/>
                <a:ea typeface="Arial"/>
                <a:cs typeface="Arial"/>
                <a:sym typeface="Arial"/>
              </a:rPr>
              <a:t>platform</a:t>
            </a:r>
            <a:r>
              <a:rPr b="0" i="0" lang="en-US" sz="1400" u="none" cap="none" strike="noStrike">
                <a:solidFill>
                  <a:srgbClr val="000000"/>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Helps </a:t>
            </a:r>
            <a:r>
              <a:rPr b="1" i="0" lang="en-US" sz="1400" u="none" cap="none" strike="noStrike">
                <a:solidFill>
                  <a:srgbClr val="000000"/>
                </a:solidFill>
                <a:latin typeface="Arial"/>
                <a:ea typeface="Arial"/>
                <a:cs typeface="Arial"/>
                <a:sym typeface="Arial"/>
              </a:rPr>
              <a:t>reduce the use</a:t>
            </a:r>
            <a:r>
              <a:rPr b="0" i="0" lang="en-US" sz="1400" u="none" cap="none" strike="noStrike">
                <a:solidFill>
                  <a:srgbClr val="000000"/>
                </a:solidFill>
                <a:latin typeface="Arial"/>
                <a:ea typeface="Arial"/>
                <a:cs typeface="Arial"/>
                <a:sym typeface="Arial"/>
              </a:rPr>
              <a:t> of the </a:t>
            </a:r>
            <a:r>
              <a:rPr b="1" i="0" lang="en-US" sz="1400" u="none" cap="none" strike="noStrike">
                <a:solidFill>
                  <a:srgbClr val="000000"/>
                </a:solidFill>
                <a:latin typeface="Arial"/>
                <a:ea typeface="Arial"/>
                <a:cs typeface="Arial"/>
                <a:sym typeface="Arial"/>
              </a:rPr>
              <a:t>Mainframe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Mission-critical operations for the bank are executed under APX.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4"/>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APX Application Component</a:t>
            </a:r>
            <a:endParaRPr/>
          </a:p>
        </p:txBody>
      </p:sp>
      <p:pic>
        <p:nvPicPr>
          <p:cNvPr id="47" name="Google Shape;47;p4"/>
          <p:cNvPicPr preferRelativeResize="0"/>
          <p:nvPr/>
        </p:nvPicPr>
        <p:blipFill rotWithShape="1">
          <a:blip r:embed="rId3">
            <a:alphaModFix/>
          </a:blip>
          <a:srcRect b="0" l="0" r="0" t="0"/>
          <a:stretch/>
        </p:blipFill>
        <p:spPr>
          <a:xfrm>
            <a:off x="1363625" y="837234"/>
            <a:ext cx="6416749" cy="38995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39"/>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000"/>
              <a:buNone/>
            </a:pPr>
            <a:r>
              <a:rPr lang="en-US"/>
              <a:t>APX libraries</a:t>
            </a:r>
            <a:endParaRPr/>
          </a:p>
        </p:txBody>
      </p:sp>
      <p:sp>
        <p:nvSpPr>
          <p:cNvPr id="53" name="Google Shape;53;p39"/>
          <p:cNvSpPr/>
          <p:nvPr/>
        </p:nvSpPr>
        <p:spPr>
          <a:xfrm>
            <a:off x="471600" y="1017318"/>
            <a:ext cx="4572000"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 name="Google Shape;54;p39"/>
          <p:cNvSpPr/>
          <p:nvPr/>
        </p:nvSpPr>
        <p:spPr>
          <a:xfrm>
            <a:off x="471600" y="1017479"/>
            <a:ext cx="8200800"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APX Online Architecture is provided with a set of utilities, such as:</a:t>
            </a:r>
            <a:endParaRPr/>
          </a:p>
          <a:p>
            <a:pPr indent="-285750" lvl="1" marL="7429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Relational database Libraries.</a:t>
            </a:r>
            <a:endParaRPr/>
          </a:p>
          <a:p>
            <a:pPr indent="-285750" lvl="1" marL="7429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Rules Engine Libraries.</a:t>
            </a:r>
            <a:endParaRPr/>
          </a:p>
          <a:p>
            <a:pPr indent="-285750" lvl="1" marL="7429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MongoDB Libraries.</a:t>
            </a:r>
            <a:endParaRPr/>
          </a:p>
          <a:p>
            <a:pPr indent="-285750" lvl="1" marL="7429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Connectors libraries.</a:t>
            </a:r>
            <a:endParaRPr/>
          </a:p>
          <a:p>
            <a:pPr indent="-228600" lvl="2" marL="11430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Interbackend.</a:t>
            </a:r>
            <a:endParaRPr/>
          </a:p>
          <a:p>
            <a:pPr indent="-228600" lvl="2" marL="11430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Document Manager.</a:t>
            </a:r>
            <a:endParaRPr/>
          </a:p>
          <a:p>
            <a:pPr indent="-228600" lvl="2" marL="11430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Document Creator.</a:t>
            </a:r>
            <a:endParaRPr/>
          </a:p>
          <a:p>
            <a:pPr indent="-228600" lvl="2" marL="11430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API Connector.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6"/>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000"/>
              <a:buNone/>
            </a:pPr>
            <a:r>
              <a:rPr lang="en-US"/>
              <a:t>Patterns</a:t>
            </a:r>
            <a:endParaRPr/>
          </a:p>
        </p:txBody>
      </p:sp>
      <p:sp>
        <p:nvSpPr>
          <p:cNvPr id="60" name="Google Shape;60;p6"/>
          <p:cNvSpPr txBox="1"/>
          <p:nvPr/>
        </p:nvSpPr>
        <p:spPr>
          <a:xfrm>
            <a:off x="368650" y="1190025"/>
            <a:ext cx="8348130" cy="251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Design pattern that invariably leads to a bad solution to a problem</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CRUD in libraries.</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DTOs in APX components.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40"/>
          <p:cNvSpPr/>
          <p:nvPr/>
        </p:nvSpPr>
        <p:spPr>
          <a:xfrm>
            <a:off x="602341" y="1186755"/>
            <a:ext cx="8161515"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Ayuda a tener un mejor mantenimiento de las operativas por entidades y sobre todo para mejorar la reutilización de librerías (mayor granularidad).</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Existen dos aproximaciones:</a:t>
            </a: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r>
              <a:rPr b="1" i="0" lang="en-US" sz="1400" u="none" cap="none" strike="noStrike">
                <a:solidFill>
                  <a:srgbClr val="000000"/>
                </a:solidFill>
                <a:latin typeface="Arial"/>
                <a:ea typeface="Arial"/>
                <a:cs typeface="Arial"/>
                <a:sym typeface="Arial"/>
              </a:rPr>
              <a:t>Parcial</a:t>
            </a:r>
            <a:r>
              <a:rPr b="0" i="0" lang="en-US" sz="1400" u="none" cap="none" strike="noStrike">
                <a:solidFill>
                  <a:srgbClr val="000000"/>
                </a:solidFill>
                <a:latin typeface="Arial"/>
                <a:ea typeface="Arial"/>
                <a:cs typeface="Arial"/>
                <a:sym typeface="Arial"/>
              </a:rPr>
              <a:t>: solo se implementan algunas de las operaciones básicas (por ejemplo, lecturas de tablas maestras de BBDD, siempre que se añadan nuevas entradas mediante scripts DML).</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Completa</a:t>
            </a:r>
            <a:r>
              <a:rPr b="0" i="0" lang="en-US" sz="1400" u="none" cap="none" strike="noStrike">
                <a:solidFill>
                  <a:srgbClr val="000000"/>
                </a:solidFill>
                <a:latin typeface="Arial"/>
                <a:ea typeface="Arial"/>
                <a:cs typeface="Arial"/>
                <a:sym typeface="Arial"/>
              </a:rPr>
              <a:t>: se implementan todas las operaciones básicas.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Cada operación debe tener una implementación ligera, evitando extender la lógica más allá del objetivo de la operación (por ejemplo, mezclando operativas con otras entidades).</a:t>
            </a:r>
            <a:endParaRPr b="0" i="0" sz="1400" u="none" cap="none" strike="noStrike">
              <a:solidFill>
                <a:srgbClr val="000000"/>
              </a:solidFill>
              <a:latin typeface="Arial"/>
              <a:ea typeface="Arial"/>
              <a:cs typeface="Arial"/>
              <a:sym typeface="Arial"/>
            </a:endParaRPr>
          </a:p>
        </p:txBody>
      </p:sp>
      <p:sp>
        <p:nvSpPr>
          <p:cNvPr id="66" name="Google Shape;66;p40"/>
          <p:cNvSpPr/>
          <p:nvPr/>
        </p:nvSpPr>
        <p:spPr>
          <a:xfrm>
            <a:off x="602342" y="647119"/>
            <a:ext cx="165942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CRUD in libraries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9"/>
          <p:cNvSpPr/>
          <p:nvPr/>
        </p:nvSpPr>
        <p:spPr>
          <a:xfrm>
            <a:off x="602341" y="1186755"/>
            <a:ext cx="3360059"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Ayuda en la identificar agrupaciones de datos simples y/o complejos, y evita duplicidad de código.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Es obligatorio que los DTOs se implementen dentro de un empaquetado independiente (Bundle DTO) de los componentes de APX de más alto nivel (Transacciones, Librerías y Batch)</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 pueden generar jerarquías de clases DTO, con la única restricción de que estas clases no tengan dependencias circulares entre ellas.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 name="Google Shape;72;p9"/>
          <p:cNvSpPr/>
          <p:nvPr/>
        </p:nvSpPr>
        <p:spPr>
          <a:xfrm>
            <a:off x="602342" y="647119"/>
            <a:ext cx="245291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DTOs in APX components.</a:t>
            </a:r>
            <a:endParaRPr/>
          </a:p>
        </p:txBody>
      </p:sp>
      <p:pic>
        <p:nvPicPr>
          <p:cNvPr id="73" name="Google Shape;73;p9"/>
          <p:cNvPicPr preferRelativeResize="0"/>
          <p:nvPr/>
        </p:nvPicPr>
        <p:blipFill rotWithShape="1">
          <a:blip r:embed="rId3">
            <a:alphaModFix/>
          </a:blip>
          <a:srcRect b="0" l="0" r="0" t="0"/>
          <a:stretch/>
        </p:blipFill>
        <p:spPr>
          <a:xfrm>
            <a:off x="4463143" y="645991"/>
            <a:ext cx="4445260" cy="385151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1"/>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Antipatterns</a:t>
            </a:r>
            <a:endParaRPr/>
          </a:p>
        </p:txBody>
      </p:sp>
      <p:sp>
        <p:nvSpPr>
          <p:cNvPr id="79" name="Google Shape;79;p41"/>
          <p:cNvSpPr txBox="1"/>
          <p:nvPr/>
        </p:nvSpPr>
        <p:spPr>
          <a:xfrm>
            <a:off x="368650" y="1190025"/>
            <a:ext cx="8348130" cy="251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Design pattern that invariably leads to a bad solution to a problem</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Blob in Libraries.</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Magic container in Libraries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1"/>
          <p:cNvSpPr/>
          <p:nvPr/>
        </p:nvSpPr>
        <p:spPr>
          <a:xfrm>
            <a:off x="602342" y="1186755"/>
            <a:ext cx="4440162"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Suele representarse como una única librería que contiene la mayoría de la funcionalidad y que otras librerías utilizan incorrectamente de apoyo.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 solución pasa por realizar un “refactoring” del rediseño entre las librerías involucradas. </a:t>
            </a:r>
            <a:endParaRPr/>
          </a:p>
        </p:txBody>
      </p:sp>
      <p:sp>
        <p:nvSpPr>
          <p:cNvPr id="85" name="Google Shape;85;p51"/>
          <p:cNvSpPr/>
          <p:nvPr/>
        </p:nvSpPr>
        <p:spPr>
          <a:xfrm>
            <a:off x="602342" y="647119"/>
            <a:ext cx="1537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Blob in libraries</a:t>
            </a:r>
            <a:endParaRPr/>
          </a:p>
        </p:txBody>
      </p:sp>
      <p:pic>
        <p:nvPicPr>
          <p:cNvPr id="86" name="Google Shape;86;p51"/>
          <p:cNvPicPr preferRelativeResize="0"/>
          <p:nvPr/>
        </p:nvPicPr>
        <p:blipFill rotWithShape="1">
          <a:blip r:embed="rId3">
            <a:alphaModFix/>
          </a:blip>
          <a:srcRect b="0" l="0" r="0" t="0"/>
          <a:stretch/>
        </p:blipFill>
        <p:spPr>
          <a:xfrm>
            <a:off x="5042503" y="393352"/>
            <a:ext cx="3998754" cy="404901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52"/>
          <p:cNvSpPr/>
          <p:nvPr/>
        </p:nvSpPr>
        <p:spPr>
          <a:xfrm>
            <a:off x="602341" y="1186755"/>
            <a:ext cx="8161515"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Suele representarse en una librería que contiene un solo método “execute” con parámetros que actúan como filtros y que engloba diversas funcionalidades dispares en función de sus parámetros de entrada.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 solución pasa por realizar un “refactoring” de la librería y una disgregación por entidades.</a:t>
            </a:r>
            <a:endParaRPr b="0" i="0" sz="1400" u="none" cap="none" strike="noStrike">
              <a:solidFill>
                <a:srgbClr val="000000"/>
              </a:solidFill>
              <a:latin typeface="Arial"/>
              <a:ea typeface="Arial"/>
              <a:cs typeface="Arial"/>
              <a:sym typeface="Arial"/>
            </a:endParaRPr>
          </a:p>
        </p:txBody>
      </p:sp>
      <p:sp>
        <p:nvSpPr>
          <p:cNvPr id="92" name="Google Shape;92;p52"/>
          <p:cNvSpPr/>
          <p:nvPr/>
        </p:nvSpPr>
        <p:spPr>
          <a:xfrm>
            <a:off x="602342" y="647119"/>
            <a:ext cx="25010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Magic container in libraries</a:t>
            </a:r>
            <a:endParaRPr/>
          </a:p>
        </p:txBody>
      </p:sp>
      <p:pic>
        <p:nvPicPr>
          <p:cNvPr id="93" name="Google Shape;93;p52"/>
          <p:cNvPicPr preferRelativeResize="0"/>
          <p:nvPr/>
        </p:nvPicPr>
        <p:blipFill rotWithShape="1">
          <a:blip r:embed="rId3">
            <a:alphaModFix/>
          </a:blip>
          <a:srcRect b="0" l="0" r="0" t="0"/>
          <a:stretch/>
        </p:blipFill>
        <p:spPr>
          <a:xfrm>
            <a:off x="1276350" y="2571750"/>
            <a:ext cx="6591300" cy="2305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53"/>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t/>
            </a:r>
            <a:endParaRPr/>
          </a:p>
        </p:txBody>
      </p:sp>
      <p:pic>
        <p:nvPicPr>
          <p:cNvPr id="99" name="Google Shape;99;p53"/>
          <p:cNvPicPr preferRelativeResize="0"/>
          <p:nvPr/>
        </p:nvPicPr>
        <p:blipFill rotWithShape="1">
          <a:blip r:embed="rId3">
            <a:alphaModFix/>
          </a:blip>
          <a:srcRect b="0" l="0" r="0" t="0"/>
          <a:stretch/>
        </p:blipFill>
        <p:spPr>
          <a:xfrm>
            <a:off x="1310234" y="247651"/>
            <a:ext cx="6045466" cy="1497751"/>
          </a:xfrm>
          <a:prstGeom prst="rect">
            <a:avLst/>
          </a:prstGeom>
          <a:noFill/>
          <a:ln>
            <a:noFill/>
          </a:ln>
        </p:spPr>
      </p:pic>
      <p:pic>
        <p:nvPicPr>
          <p:cNvPr id="100" name="Google Shape;100;p53"/>
          <p:cNvPicPr preferRelativeResize="0"/>
          <p:nvPr/>
        </p:nvPicPr>
        <p:blipFill rotWithShape="1">
          <a:blip r:embed="rId4">
            <a:alphaModFix/>
          </a:blip>
          <a:srcRect b="0" l="0" r="0" t="0"/>
          <a:stretch/>
        </p:blipFill>
        <p:spPr>
          <a:xfrm>
            <a:off x="2312896" y="1745402"/>
            <a:ext cx="4518208" cy="3305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5"/>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000"/>
              <a:buNone/>
            </a:pPr>
            <a:r>
              <a:rPr lang="en-US"/>
              <a:t>APX Console</a:t>
            </a:r>
            <a:endParaRPr/>
          </a:p>
        </p:txBody>
      </p:sp>
      <p:sp>
        <p:nvSpPr>
          <p:cNvPr id="106" name="Google Shape;106;p5"/>
          <p:cNvSpPr/>
          <p:nvPr/>
        </p:nvSpPr>
        <p:spPr>
          <a:xfrm>
            <a:off x="471599" y="1017318"/>
            <a:ext cx="8335121"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APX Operation Console was created to provide a tool to the developers and administrators of the environment to </a:t>
            </a:r>
            <a:r>
              <a:rPr b="1" i="0" lang="en-US" sz="1400" u="none" cap="none" strike="noStrike">
                <a:solidFill>
                  <a:srgbClr val="000000"/>
                </a:solidFill>
                <a:latin typeface="Arial"/>
                <a:ea typeface="Arial"/>
                <a:cs typeface="Arial"/>
                <a:sym typeface="Arial"/>
              </a:rPr>
              <a:t>manage operations on the platform</a:t>
            </a:r>
            <a:r>
              <a:rPr b="0" i="0" lang="en-US" sz="1400" u="none" cap="none" strike="noStrike">
                <a:solidFill>
                  <a:srgbClr val="000000"/>
                </a:solidFill>
                <a:latin typeface="Arial"/>
                <a:ea typeface="Arial"/>
                <a:cs typeface="Arial"/>
                <a:sym typeface="Arial"/>
              </a:rPr>
              <a:t>, for example, configuration management, verification of the application components or search of executed or executing jobs.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Components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In this view, the transactions, dtos and libraries can be filter by UUAA. This view shows the </a:t>
            </a:r>
            <a:r>
              <a:rPr b="1" i="0" lang="en-US" sz="1400" u="none" cap="none" strike="noStrike">
                <a:solidFill>
                  <a:srgbClr val="000000"/>
                </a:solidFill>
                <a:latin typeface="Arial"/>
                <a:ea typeface="Arial"/>
                <a:cs typeface="Arial"/>
                <a:sym typeface="Arial"/>
              </a:rPr>
              <a:t>component detail</a:t>
            </a:r>
            <a:r>
              <a:rPr b="0" i="0" lang="en-US" sz="1400" u="none" cap="none" strike="noStrike">
                <a:solidFill>
                  <a:srgbClr val="000000"/>
                </a:solidFill>
                <a:latin typeface="Arial"/>
                <a:ea typeface="Arial"/>
                <a:cs typeface="Arial"/>
                <a:sym typeface="Arial"/>
              </a:rPr>
              <a:t>, the status of each component by instance, the activation status of the  component and the button to activate spans (transactions and libraries).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7"/>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t/>
            </a:r>
            <a:endParaRPr/>
          </a:p>
        </p:txBody>
      </p:sp>
      <p:pic>
        <p:nvPicPr>
          <p:cNvPr id="112" name="Google Shape;112;p37"/>
          <p:cNvPicPr preferRelativeResize="0"/>
          <p:nvPr/>
        </p:nvPicPr>
        <p:blipFill rotWithShape="1">
          <a:blip r:embed="rId3">
            <a:alphaModFix/>
          </a:blip>
          <a:srcRect b="0" l="0" r="0" t="0"/>
          <a:stretch/>
        </p:blipFill>
        <p:spPr>
          <a:xfrm>
            <a:off x="358177" y="0"/>
            <a:ext cx="8427646"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8"/>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t/>
            </a:r>
            <a:endParaRPr/>
          </a:p>
        </p:txBody>
      </p:sp>
      <p:pic>
        <p:nvPicPr>
          <p:cNvPr id="118" name="Google Shape;118;p38"/>
          <p:cNvPicPr preferRelativeResize="0"/>
          <p:nvPr/>
        </p:nvPicPr>
        <p:blipFill rotWithShape="1">
          <a:blip r:embed="rId3">
            <a:alphaModFix/>
          </a:blip>
          <a:srcRect b="0" l="0" r="0" t="0"/>
          <a:stretch/>
        </p:blipFill>
        <p:spPr>
          <a:xfrm>
            <a:off x="0" y="406726"/>
            <a:ext cx="9144000" cy="394174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4"/>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t/>
            </a:r>
            <a:endParaRPr/>
          </a:p>
        </p:txBody>
      </p:sp>
      <p:pic>
        <p:nvPicPr>
          <p:cNvPr id="124" name="Google Shape;124;p54"/>
          <p:cNvPicPr preferRelativeResize="0"/>
          <p:nvPr/>
        </p:nvPicPr>
        <p:blipFill rotWithShape="1">
          <a:blip r:embed="rId3">
            <a:alphaModFix/>
          </a:blip>
          <a:srcRect b="0" l="0" r="0" t="0"/>
          <a:stretch/>
        </p:blipFill>
        <p:spPr>
          <a:xfrm>
            <a:off x="235064" y="0"/>
            <a:ext cx="8673871"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5"/>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t/>
            </a:r>
            <a:endParaRPr/>
          </a:p>
        </p:txBody>
      </p:sp>
      <p:pic>
        <p:nvPicPr>
          <p:cNvPr id="130" name="Google Shape;130;p55"/>
          <p:cNvPicPr preferRelativeResize="0"/>
          <p:nvPr/>
        </p:nvPicPr>
        <p:blipFill rotWithShape="1">
          <a:blip r:embed="rId3">
            <a:alphaModFix/>
          </a:blip>
          <a:srcRect b="0" l="0" r="0" t="0"/>
          <a:stretch/>
        </p:blipFill>
        <p:spPr>
          <a:xfrm>
            <a:off x="2461929" y="0"/>
            <a:ext cx="4220141"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6"/>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t/>
            </a:r>
            <a:endParaRPr/>
          </a:p>
        </p:txBody>
      </p:sp>
      <p:pic>
        <p:nvPicPr>
          <p:cNvPr id="136" name="Google Shape;136;p56"/>
          <p:cNvPicPr preferRelativeResize="0"/>
          <p:nvPr/>
        </p:nvPicPr>
        <p:blipFill rotWithShape="1">
          <a:blip r:embed="rId3">
            <a:alphaModFix/>
          </a:blip>
          <a:srcRect b="0" l="0" r="0" t="0"/>
          <a:stretch/>
        </p:blipFill>
        <p:spPr>
          <a:xfrm>
            <a:off x="61912" y="1485900"/>
            <a:ext cx="9020175" cy="2171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7"/>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rPr lang="en-US"/>
              <a:t>Credentials</a:t>
            </a:r>
            <a:endParaRPr/>
          </a:p>
        </p:txBody>
      </p:sp>
      <p:sp>
        <p:nvSpPr>
          <p:cNvPr id="142" name="Google Shape;142;p57"/>
          <p:cNvSpPr/>
          <p:nvPr/>
        </p:nvSpPr>
        <p:spPr>
          <a:xfrm>
            <a:off x="471600" y="899410"/>
            <a:ext cx="8492518"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An application can create credential for access to Databases or any other system that requires authentication. This can be done for Online and Batch using the "Credentials" option, which is available for the administrators of the environment.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In the view  Credentials &gt; Applications &gt; Online / Batch credentials can be created for Online or Batch. UUAA is has to be written to indicate that the credentials are for thar app. </a:t>
            </a:r>
            <a:endParaRPr/>
          </a:p>
        </p:txBody>
      </p:sp>
      <p:pic>
        <p:nvPicPr>
          <p:cNvPr id="143" name="Google Shape;143;p57"/>
          <p:cNvPicPr preferRelativeResize="0"/>
          <p:nvPr/>
        </p:nvPicPr>
        <p:blipFill rotWithShape="1">
          <a:blip r:embed="rId3">
            <a:alphaModFix/>
          </a:blip>
          <a:srcRect b="0" l="0" r="0" t="0"/>
          <a:stretch/>
        </p:blipFill>
        <p:spPr>
          <a:xfrm>
            <a:off x="828501" y="2435089"/>
            <a:ext cx="7486997" cy="234852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8"/>
          <p:cNvSpPr/>
          <p:nvPr/>
        </p:nvSpPr>
        <p:spPr>
          <a:xfrm>
            <a:off x="471599" y="937566"/>
            <a:ext cx="8095200" cy="353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To add new credentials, push “Add New” button and a pop-up will be displayed. Key, Value and Description fields have to be filled.</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Key</a:t>
            </a:r>
            <a:r>
              <a:rPr b="0" i="0" lang="en-US" sz="1400" u="none" cap="none" strike="noStrike">
                <a:solidFill>
                  <a:srgbClr val="000000"/>
                </a:solidFill>
                <a:latin typeface="Arial"/>
                <a:ea typeface="Arial"/>
                <a:cs typeface="Arial"/>
                <a:sym typeface="Arial"/>
              </a:rPr>
              <a:t>: The name of the configuration to be inserted.</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Value</a:t>
            </a:r>
            <a:r>
              <a:rPr b="0" i="0" lang="en-US" sz="1400" u="none" cap="none" strike="noStrike">
                <a:solidFill>
                  <a:srgbClr val="000000"/>
                </a:solidFill>
                <a:latin typeface="Arial"/>
                <a:ea typeface="Arial"/>
                <a:cs typeface="Arial"/>
                <a:sym typeface="Arial"/>
              </a:rPr>
              <a:t>: The value to be assigned to the configuration.</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Family</a:t>
            </a:r>
            <a:r>
              <a:rPr b="0" i="0" lang="en-US" sz="1400" u="none" cap="none" strike="noStrike">
                <a:solidFill>
                  <a:srgbClr val="000000"/>
                </a:solidFill>
                <a:latin typeface="Arial"/>
                <a:ea typeface="Arial"/>
                <a:cs typeface="Arial"/>
                <a:sym typeface="Arial"/>
              </a:rPr>
              <a:t>: The type of configuration to be inserted, for example, it can be Oracle, Mongo, Interbackend, ElasticSearch, etc.</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Description</a:t>
            </a:r>
            <a:r>
              <a:rPr b="0" i="0" lang="en-US" sz="1400" u="none" cap="none" strike="noStrike">
                <a:solidFill>
                  <a:srgbClr val="000000"/>
                </a:solidFill>
                <a:latin typeface="Arial"/>
                <a:ea typeface="Arial"/>
                <a:cs typeface="Arial"/>
                <a:sym typeface="Arial"/>
              </a:rPr>
              <a:t>: Details about this configuration (what it is, why it’s been created, etc).</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Observation</a:t>
            </a:r>
            <a:r>
              <a:rPr b="0" i="0" lang="en-US" sz="1400" u="none" cap="none" strike="noStrike">
                <a:solidFill>
                  <a:srgbClr val="000000"/>
                </a:solidFill>
                <a:latin typeface="Arial"/>
                <a:ea typeface="Arial"/>
                <a:cs typeface="Arial"/>
                <a:sym typeface="Arial"/>
              </a:rPr>
              <a:t>: It can be additional information (a particularity, a condition to use this configuration, etc).</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Profile</a:t>
            </a:r>
            <a:r>
              <a:rPr b="0" i="0" lang="en-US" sz="1400" u="none" cap="none" strike="noStrike">
                <a:solidFill>
                  <a:srgbClr val="000000"/>
                </a:solidFill>
                <a:latin typeface="Arial"/>
                <a:ea typeface="Arial"/>
                <a:cs typeface="Arial"/>
                <a:sym typeface="Arial"/>
              </a:rPr>
              <a:t>: If this application is for R2 or R3. By default the value is DE (R2 if R3 is not defined). In this file can be defined category of configuration too (Critical, quarantine, etc).</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Environment Dependent</a:t>
            </a:r>
            <a:r>
              <a:rPr b="0" i="0" lang="en-US" sz="1400" u="none" cap="none" strike="noStrike">
                <a:solidFill>
                  <a:srgbClr val="000000"/>
                </a:solidFill>
                <a:latin typeface="Arial"/>
                <a:ea typeface="Arial"/>
                <a:cs typeface="Arial"/>
                <a:sym typeface="Arial"/>
              </a:rPr>
              <a:t>: If this configuration changes according the environment. </a:t>
            </a:r>
            <a:endParaRPr/>
          </a:p>
          <a:p>
            <a:pPr indent="0" lvl="1"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Null: Not indicated.</a:t>
            </a:r>
            <a:endParaRPr/>
          </a:p>
          <a:p>
            <a:pPr indent="0" lvl="1"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0: Independent.</a:t>
            </a:r>
            <a:endParaRPr/>
          </a:p>
          <a:p>
            <a:pPr indent="0" lvl="1"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 Dependent.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9"/>
          <p:cNvSpPr txBox="1"/>
          <p:nvPr>
            <p:ph type="title"/>
          </p:nvPr>
        </p:nvSpPr>
        <p:spPr>
          <a:xfrm>
            <a:off x="471600" y="406726"/>
            <a:ext cx="6884100" cy="34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000"/>
              <a:buFont typeface="Arial"/>
              <a:buNone/>
            </a:pPr>
            <a:r>
              <a:t/>
            </a:r>
            <a:endParaRPr/>
          </a:p>
        </p:txBody>
      </p:sp>
      <p:pic>
        <p:nvPicPr>
          <p:cNvPr id="154" name="Google Shape;154;p59"/>
          <p:cNvPicPr preferRelativeResize="0"/>
          <p:nvPr/>
        </p:nvPicPr>
        <p:blipFill rotWithShape="1">
          <a:blip r:embed="rId3">
            <a:alphaModFix/>
          </a:blip>
          <a:srcRect b="0" l="0" r="0" t="0"/>
          <a:stretch/>
        </p:blipFill>
        <p:spPr>
          <a:xfrm>
            <a:off x="730727" y="0"/>
            <a:ext cx="7682546"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BVA Plantilla 16-9">
  <a:themeElements>
    <a:clrScheme name="BBVA CORONITA">
      <a:dk1>
        <a:srgbClr val="004481"/>
      </a:dk1>
      <a:lt1>
        <a:srgbClr val="FFFFFF"/>
      </a:lt1>
      <a:dk2>
        <a:srgbClr val="1464A5"/>
      </a:dk2>
      <a:lt2>
        <a:srgbClr val="121212"/>
      </a:lt2>
      <a:accent1>
        <a:srgbClr val="1973B8"/>
      </a:accent1>
      <a:accent2>
        <a:srgbClr val="5BBEFF"/>
      </a:accent2>
      <a:accent3>
        <a:srgbClr val="2DCCCD"/>
      </a:accent3>
      <a:accent4>
        <a:srgbClr val="072146"/>
      </a:accent4>
      <a:accent5>
        <a:srgbClr val="D8BE75"/>
      </a:accent5>
      <a:accent6>
        <a:srgbClr val="F7893B"/>
      </a:accent6>
      <a:hlink>
        <a:srgbClr val="004481"/>
      </a:hlink>
      <a:folHlink>
        <a:srgbClr val="07214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