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firstSlideNum="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Lst>
  <p:sldSz cy="5143500" cx="9144000"/>
  <p:notesSz cx="6858000" cy="9144000"/>
  <p:embeddedFontLst>
    <p:embeddedFont>
      <p:font typeface="Roboto Condensed"/>
      <p:regular r:id="rId63"/>
      <p:bold r:id="rId64"/>
      <p:italic r:id="rId65"/>
      <p:boldItalic r:id="rId66"/>
    </p:embeddedFont>
    <p:embeddedFont>
      <p:font typeface="Merriweather"/>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5654">
          <p15:clr>
            <a:srgbClr val="A4A3A4"/>
          </p15:clr>
        </p15:guide>
        <p15:guide id="2" pos="3243">
          <p15:clr>
            <a:srgbClr val="A4A3A4"/>
          </p15:clr>
        </p15:guide>
        <p15:guide id="3" orient="horz" pos="1620">
          <p15:clr>
            <a:srgbClr val="A4A3A4"/>
          </p15:clr>
        </p15:guide>
      </p15:sldGuideLst>
    </p:ext>
    <p:ext uri="GoogleSlidesCustomDataVersion2">
      <go:slidesCustomData xmlns:go="http://customooxmlschemas.google.com/" r:id="rId71" roundtripDataSignature="AMtx7mg96BnGAflIyBdMOYKVx51rvGr19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654"/>
        <p:guide pos="3243"/>
        <p:guide pos="162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customschemas.google.com/relationships/presentationmetadata" Target="metadata"/><Relationship Id="rId70" Type="http://schemas.openxmlformats.org/officeDocument/2006/relationships/font" Target="fonts/Merriweather-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RobotoCondensed-bold.fntdata"/><Relationship Id="rId63" Type="http://schemas.openxmlformats.org/officeDocument/2006/relationships/font" Target="fonts/RobotoCondensed-regular.fntdata"/><Relationship Id="rId22" Type="http://schemas.openxmlformats.org/officeDocument/2006/relationships/slide" Target="slides/slide17.xml"/><Relationship Id="rId66" Type="http://schemas.openxmlformats.org/officeDocument/2006/relationships/font" Target="fonts/RobotoCondensed-boldItalic.fntdata"/><Relationship Id="rId21" Type="http://schemas.openxmlformats.org/officeDocument/2006/relationships/slide" Target="slides/slide16.xml"/><Relationship Id="rId65" Type="http://schemas.openxmlformats.org/officeDocument/2006/relationships/font" Target="fonts/RobotoCondensed-italic.fntdata"/><Relationship Id="rId24" Type="http://schemas.openxmlformats.org/officeDocument/2006/relationships/slide" Target="slides/slide19.xml"/><Relationship Id="rId68" Type="http://schemas.openxmlformats.org/officeDocument/2006/relationships/font" Target="fonts/Merriweather-bold.fntdata"/><Relationship Id="rId23" Type="http://schemas.openxmlformats.org/officeDocument/2006/relationships/slide" Target="slides/slide18.xml"/><Relationship Id="rId67" Type="http://schemas.openxmlformats.org/officeDocument/2006/relationships/font" Target="fonts/Merriweather-regular.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Merriweather-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 name="Google Shape;3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 name="Google Shape;36;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gdfd45110a4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 name="Google Shape;44;gdfd45110a4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dfd45110a4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 name="Google Shape;60;gdfd45110a4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dfd45110a4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 name="Google Shape;69;gdfd45110a4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dfd45110a4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 name="Google Shape;78;gdfd45110a4_0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dfd45110a4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 name="Google Shape;86;gdfd45110a4_0_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dfd45110a4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dfd45110a4_0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dfd45110a4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gdfd45110a4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dfd45110a4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gdfd45110a4_0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dfd45110a4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 name="Google Shape;119;gdfd45110a4_0_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dfd45110a4_0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gdfd45110a4_0_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dfd45110a4_0_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gdfd45110a4_0_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dfd45110a4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gdfd45110a4_0_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dfd45110a4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gdfd45110a4_0_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dfd45110a4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gdfd45110a4_0_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dfd45110a4_0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gdfd45110a4_0_1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dfd45110a4_0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gdfd45110a4_0_1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dfd45110a4_0_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gdfd45110a4_0_1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dfd45110a4_0_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 name="Google Shape;199;gdfd45110a4_0_1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e1c8f31a7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7" name="Google Shape;207;ge1c8f31a7b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e1c8f31a7b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ge1c8f31a7b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e1c8f31a7b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ge1c8f31a7b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e1c8f31a7b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ge1c8f31a7b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e1c8f31a7b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9" name="Google Shape;239;ge1c8f31a7b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e1c8f31a7b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ge1c8f31a7b_0_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e1c8f31a7b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ge1c8f31a7b_0_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e1c8f31a7b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3" name="Google Shape;263;ge1c8f31a7b_0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e1c8f31a7b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1" name="Google Shape;271;ge1c8f31a7b_0_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e1c8f31a7b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9" name="Google Shape;279;ge1c8f31a7b_0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e1c8f31a7b_0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7" name="Google Shape;287;ge1c8f31a7b_0_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e1c8f31a7b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5" name="Google Shape;295;ge1c8f31a7b_0_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e1c8f31a7b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3" name="Google Shape;303;ge1c8f31a7b_0_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e1c8f31a7b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1" name="Google Shape;311;ge1c8f31a7b_0_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e1c8f31a7b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9" name="Google Shape;319;ge1c8f31a7b_0_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e1c8f31a7b_0_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7" name="Google Shape;327;ge1c8f31a7b_0_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e1c8f31a7b_0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5" name="Google Shape;335;ge1c8f31a7b_0_1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e1c8f31a7b_0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3" name="Google Shape;343;ge1c8f31a7b_0_1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e1c8f31a7b_0_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2" name="Google Shape;352;ge1c8f31a7b_0_1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e1c8f31a7b_0_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0" name="Google Shape;360;ge1c8f31a7b_0_1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e1c8f31a7b_0_1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8" name="Google Shape;368;ge1c8f31a7b_0_1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e1c8f31a7b_0_1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6" name="Google Shape;376;ge1c8f31a7b_0_1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e1c8f31a7b_0_1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4" name="Google Shape;384;ge1c8f31a7b_0_1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e1f7795c1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2" name="Google Shape;392;ge1f7795c1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e1f7795c1c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0" name="Google Shape;400;ge1f7795c1c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e1f7795c1c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8" name="Google Shape;408;ge1f7795c1c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e1f7795c1c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6" name="Google Shape;416;ge1f7795c1c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e1f7795c1c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4" name="Google Shape;424;ge1f7795c1c_0_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e1f7795c1c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2" name="Google Shape;432;ge1f7795c1c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e1f7795c1c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0" name="Google Shape;440;ge1f7795c1c_0_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e1f7795c1c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8" name="Google Shape;448;ge1f7795c1c_0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e1f7795c1c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6" name="Google Shape;456;ge1f7795c1c_0_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e1f7795c1c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4" name="Google Shape;464;ge1f7795c1c_0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e1f7795c1c_0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2" name="Google Shape;472;ge1f7795c1c_0_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e1f7795c1c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0" name="Google Shape;480;ge1f7795c1c_0_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e1f7795c1c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8" name="Google Shape;488;ge1f7795c1c_0_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e1f7795c1c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6" name="Google Shape;496;ge1f7795c1c_0_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2">
  <p:cSld name="Portada 2">
    <p:bg>
      <p:bgPr>
        <a:blipFill>
          <a:blip r:embed="rId2">
            <a:alphaModFix/>
          </a:blip>
          <a:stretch>
            <a:fillRect/>
          </a:stretch>
        </a:blipFill>
      </p:bgPr>
    </p:bg>
    <p:spTree>
      <p:nvGrpSpPr>
        <p:cNvPr id="6" name="Shape 6"/>
        <p:cNvGrpSpPr/>
        <p:nvPr/>
      </p:nvGrpSpPr>
      <p:grpSpPr>
        <a:xfrm>
          <a:off x="0" y="0"/>
          <a:ext cx="0" cy="0"/>
          <a:chOff x="0" y="0"/>
          <a:chExt cx="0" cy="0"/>
        </a:xfrm>
      </p:grpSpPr>
      <p:sp>
        <p:nvSpPr>
          <p:cNvPr id="7" name="Google Shape;7;p43"/>
          <p:cNvSpPr txBox="1"/>
          <p:nvPr>
            <p:ph type="title"/>
          </p:nvPr>
        </p:nvSpPr>
        <p:spPr>
          <a:xfrm>
            <a:off x="464500" y="1493134"/>
            <a:ext cx="4763158" cy="1944547"/>
          </a:xfrm>
          <a:prstGeom prst="rect">
            <a:avLst/>
          </a:prstGeom>
          <a:noFill/>
          <a:ln>
            <a:noFill/>
          </a:ln>
        </p:spPr>
        <p:txBody>
          <a:bodyPr anchorCtr="0" anchor="t" bIns="0" lIns="0" spcFirstLastPara="1" rIns="0" wrap="square" tIns="0">
            <a:noAutofit/>
          </a:bodyPr>
          <a:lstStyle>
            <a:lvl1pPr lvl="0" marR="0" rtl="0" algn="l">
              <a:lnSpc>
                <a:spcPct val="110000"/>
              </a:lnSpc>
              <a:spcBef>
                <a:spcPts val="0"/>
              </a:spcBef>
              <a:spcAft>
                <a:spcPts val="0"/>
              </a:spcAft>
              <a:buClr>
                <a:schemeClr val="lt1"/>
              </a:buClr>
              <a:buSzPts val="3600"/>
              <a:buFont typeface="Arial"/>
              <a:buNone/>
              <a:defRPr b="1" i="0" sz="36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8" name="Google Shape;8;p43"/>
          <p:cNvPicPr preferRelativeResize="0"/>
          <p:nvPr/>
        </p:nvPicPr>
        <p:blipFill rotWithShape="1">
          <a:blip r:embed="rId3">
            <a:alphaModFix/>
          </a:blip>
          <a:srcRect b="0" l="0" r="0" t="0"/>
          <a:stretch/>
        </p:blipFill>
        <p:spPr>
          <a:xfrm>
            <a:off x="7034180" y="478650"/>
            <a:ext cx="1604295" cy="50402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 conclusión">
  <p:cSld name="Con conclusión">
    <p:spTree>
      <p:nvGrpSpPr>
        <p:cNvPr id="9" name="Shape 9"/>
        <p:cNvGrpSpPr/>
        <p:nvPr/>
      </p:nvGrpSpPr>
      <p:grpSpPr>
        <a:xfrm>
          <a:off x="0" y="0"/>
          <a:ext cx="0" cy="0"/>
          <a:chOff x="0" y="0"/>
          <a:chExt cx="0" cy="0"/>
        </a:xfrm>
      </p:grpSpPr>
      <p:sp>
        <p:nvSpPr>
          <p:cNvPr id="10" name="Google Shape;10;p45"/>
          <p:cNvSpPr/>
          <p:nvPr/>
        </p:nvSpPr>
        <p:spPr>
          <a:xfrm>
            <a:off x="0" y="4490720"/>
            <a:ext cx="9140281" cy="65278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 name="Google Shape;11;p45"/>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accent4"/>
              </a:buClr>
              <a:buSzPts val="2000"/>
              <a:buFont typeface="Arial"/>
              <a:buNone/>
              <a:defRPr b="1" i="0" sz="2000" u="none" cap="none" strike="noStrike">
                <a:solidFill>
                  <a:schemeClr val="accent4"/>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45"/>
          <p:cNvSpPr/>
          <p:nvPr/>
        </p:nvSpPr>
        <p:spPr>
          <a:xfrm>
            <a:off x="8868798" y="0"/>
            <a:ext cx="279399" cy="167640"/>
          </a:xfrm>
          <a:custGeom>
            <a:rect b="b" l="l" r="r" t="t"/>
            <a:pathLst>
              <a:path extrusionOk="0" h="167640" w="279399">
                <a:moveTo>
                  <a:pt x="76201" y="0"/>
                </a:moveTo>
                <a:lnTo>
                  <a:pt x="139699" y="0"/>
                </a:lnTo>
                <a:lnTo>
                  <a:pt x="275202" y="0"/>
                </a:lnTo>
                <a:lnTo>
                  <a:pt x="279399" y="0"/>
                </a:lnTo>
                <a:lnTo>
                  <a:pt x="275202" y="9233"/>
                </a:lnTo>
                <a:lnTo>
                  <a:pt x="275202" y="167640"/>
                </a:lnTo>
                <a:lnTo>
                  <a:pt x="203198" y="167640"/>
                </a:lnTo>
                <a:lnTo>
                  <a:pt x="139699" y="167640"/>
                </a:lnTo>
                <a:lnTo>
                  <a:pt x="0" y="16764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 name="Google Shape;13;p45"/>
          <p:cNvSpPr txBox="1"/>
          <p:nvPr/>
        </p:nvSpPr>
        <p:spPr>
          <a:xfrm>
            <a:off x="8915719" y="31388"/>
            <a:ext cx="212696" cy="107722"/>
          </a:xfrm>
          <a:prstGeom prst="rect">
            <a:avLst/>
          </a:prstGeom>
          <a:noFill/>
          <a:ln>
            <a:noFill/>
          </a:ln>
        </p:spPr>
        <p:txBody>
          <a:bodyPr anchorCtr="0" anchor="t" bIns="0" lIns="0" spcFirstLastPara="1" rIns="0" wrap="square" tIns="0">
            <a:noAutofit/>
          </a:bodyPr>
          <a:lstStyle/>
          <a:p>
            <a:pPr indent="0" lvl="0" marL="0" marR="5143" rtl="0" algn="ctr">
              <a:lnSpc>
                <a:spcPct val="100000"/>
              </a:lnSpc>
              <a:spcBef>
                <a:spcPts val="0"/>
              </a:spcBef>
              <a:spcAft>
                <a:spcPts val="0"/>
              </a:spcAft>
              <a:buClr>
                <a:srgbClr val="000000"/>
              </a:buClr>
              <a:buSzPts val="700"/>
              <a:buFont typeface="Arial"/>
              <a:buNone/>
            </a:pPr>
            <a:fld id="{00000000-1234-1234-1234-123412341234}" type="slidenum">
              <a:rPr b="0" i="0" lang="en-US" sz="700" u="none" cap="none" strike="noStrike">
                <a:solidFill>
                  <a:schemeClr val="lt1"/>
                </a:solidFill>
                <a:latin typeface="Arial"/>
                <a:ea typeface="Arial"/>
                <a:cs typeface="Arial"/>
                <a:sym typeface="Arial"/>
              </a:rPr>
              <a:t>‹#›</a:t>
            </a:fld>
            <a:endParaRPr b="1" i="0" sz="900" u="none" cap="none" strike="noStrike">
              <a:solidFill>
                <a:schemeClr val="lt1"/>
              </a:solidFill>
              <a:latin typeface="Arial"/>
              <a:ea typeface="Arial"/>
              <a:cs typeface="Arial"/>
              <a:sym typeface="Arial"/>
            </a:endParaRPr>
          </a:p>
        </p:txBody>
      </p:sp>
      <p:sp>
        <p:nvSpPr>
          <p:cNvPr id="14" name="Google Shape;14;p45"/>
          <p:cNvSpPr txBox="1"/>
          <p:nvPr/>
        </p:nvSpPr>
        <p:spPr>
          <a:xfrm>
            <a:off x="7621981" y="31388"/>
            <a:ext cx="1214843" cy="107722"/>
          </a:xfrm>
          <a:prstGeom prst="rect">
            <a:avLst/>
          </a:prstGeom>
          <a:noFill/>
          <a:ln>
            <a:noFill/>
          </a:ln>
        </p:spPr>
        <p:txBody>
          <a:bodyPr anchorCtr="0" anchor="t" bIns="0" lIns="0" spcFirstLastPara="1" rIns="0" wrap="square" tIns="0">
            <a:noAutofit/>
          </a:bodyPr>
          <a:lstStyle/>
          <a:p>
            <a:pPr indent="0" lvl="0" marL="0" marR="5143" rtl="0" algn="r">
              <a:lnSpc>
                <a:spcPct val="100000"/>
              </a:lnSpc>
              <a:spcBef>
                <a:spcPts val="0"/>
              </a:spcBef>
              <a:spcAft>
                <a:spcPts val="0"/>
              </a:spcAft>
              <a:buClr>
                <a:srgbClr val="000000"/>
              </a:buClr>
              <a:buSzPts val="700"/>
              <a:buFont typeface="Arial"/>
              <a:buNone/>
            </a:pPr>
            <a:r>
              <a:rPr b="0" i="0" lang="en-US" sz="700" u="none" cap="none" strike="noStrike">
                <a:solidFill>
                  <a:schemeClr val="accent3"/>
                </a:solidFill>
                <a:latin typeface="Arial"/>
                <a:ea typeface="Arial"/>
                <a:cs typeface="Arial"/>
                <a:sym typeface="Arial"/>
              </a:rPr>
              <a:t>Título presentación</a:t>
            </a:r>
            <a:endParaRPr b="1" i="0" sz="700" u="none" cap="none" strike="noStrike">
              <a:solidFill>
                <a:schemeClr val="accent3"/>
              </a:solidFill>
              <a:latin typeface="Arial"/>
              <a:ea typeface="Arial"/>
              <a:cs typeface="Arial"/>
              <a:sym typeface="Arial"/>
            </a:endParaRPr>
          </a:p>
        </p:txBody>
      </p:sp>
    </p:spTree>
  </p:cSld>
  <p:clrMapOvr>
    <a:masterClrMapping/>
  </p:clrMapOvr>
  <p:extLst>
    <p:ext uri="{DCECCB84-F9BA-43D5-87BE-67443E8EF086}">
      <p15:sldGuideLst>
        <p15:guide id="1" orient="horz" pos="306">
          <p15:clr>
            <a:srgbClr val="FBAE40"/>
          </p15:clr>
        </p15:guide>
        <p15:guide id="2" pos="311">
          <p15:clr>
            <a:srgbClr val="FBAE40"/>
          </p15:clr>
        </p15:guide>
        <p15:guide id="3" pos="5653">
          <p15:clr>
            <a:srgbClr val="FBAE40"/>
          </p15:clr>
        </p15:guide>
        <p15:guide id="4" orient="horz" pos="283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1">
  <p:cSld name="Portada 1">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47"/>
          <p:cNvSpPr txBox="1"/>
          <p:nvPr>
            <p:ph type="title"/>
          </p:nvPr>
        </p:nvSpPr>
        <p:spPr>
          <a:xfrm>
            <a:off x="464500" y="1493134"/>
            <a:ext cx="4763158" cy="1944547"/>
          </a:xfrm>
          <a:prstGeom prst="rect">
            <a:avLst/>
          </a:prstGeom>
          <a:noFill/>
          <a:ln>
            <a:noFill/>
          </a:ln>
        </p:spPr>
        <p:txBody>
          <a:bodyPr anchorCtr="0" anchor="t" bIns="0" lIns="0" spcFirstLastPara="1" rIns="0" wrap="square" tIns="0">
            <a:noAutofit/>
          </a:bodyPr>
          <a:lstStyle>
            <a:lvl1pPr lvl="0" marR="0" rtl="0" algn="l">
              <a:lnSpc>
                <a:spcPct val="110000"/>
              </a:lnSpc>
              <a:spcBef>
                <a:spcPts val="0"/>
              </a:spcBef>
              <a:spcAft>
                <a:spcPts val="0"/>
              </a:spcAft>
              <a:buClr>
                <a:schemeClr val="lt1"/>
              </a:buClr>
              <a:buSzPts val="3600"/>
              <a:buFont typeface="Arial"/>
              <a:buNone/>
              <a:defRPr b="1" i="0" sz="36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17" name="Google Shape;17;p47"/>
          <p:cNvPicPr preferRelativeResize="0"/>
          <p:nvPr/>
        </p:nvPicPr>
        <p:blipFill rotWithShape="1">
          <a:blip r:embed="rId3">
            <a:alphaModFix/>
          </a:blip>
          <a:srcRect b="0" l="0" r="0" t="0"/>
          <a:stretch/>
        </p:blipFill>
        <p:spPr>
          <a:xfrm>
            <a:off x="497221" y="474424"/>
            <a:ext cx="1872127" cy="48188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ción">
  <p:cSld name="Sección">
    <p:bg>
      <p:bgPr>
        <a:blipFill>
          <a:blip r:embed="rId2">
            <a:alphaModFix/>
          </a:blip>
          <a:stretch>
            <a:fillRect/>
          </a:stretch>
        </a:blipFill>
      </p:bgPr>
    </p:bg>
    <p:spTree>
      <p:nvGrpSpPr>
        <p:cNvPr id="18" name="Shape 18"/>
        <p:cNvGrpSpPr/>
        <p:nvPr/>
      </p:nvGrpSpPr>
      <p:grpSpPr>
        <a:xfrm>
          <a:off x="0" y="0"/>
          <a:ext cx="0" cy="0"/>
          <a:chOff x="0" y="0"/>
          <a:chExt cx="0" cy="0"/>
        </a:xfrm>
      </p:grpSpPr>
      <p:pic>
        <p:nvPicPr>
          <p:cNvPr id="19" name="Google Shape;19;p48"/>
          <p:cNvPicPr preferRelativeResize="0"/>
          <p:nvPr/>
        </p:nvPicPr>
        <p:blipFill rotWithShape="1">
          <a:blip r:embed="rId3">
            <a:alphaModFix/>
          </a:blip>
          <a:srcRect b="0" l="0" r="0" t="0"/>
          <a:stretch/>
        </p:blipFill>
        <p:spPr>
          <a:xfrm>
            <a:off x="7034180" y="478650"/>
            <a:ext cx="1604295" cy="504020"/>
          </a:xfrm>
          <a:prstGeom prst="rect">
            <a:avLst/>
          </a:prstGeom>
          <a:noFill/>
          <a:ln>
            <a:noFill/>
          </a:ln>
        </p:spPr>
      </p:pic>
      <p:sp>
        <p:nvSpPr>
          <p:cNvPr id="20" name="Google Shape;20;p48"/>
          <p:cNvSpPr txBox="1"/>
          <p:nvPr>
            <p:ph type="title"/>
          </p:nvPr>
        </p:nvSpPr>
        <p:spPr>
          <a:xfrm>
            <a:off x="410293" y="2045886"/>
            <a:ext cx="4897556" cy="1569240"/>
          </a:xfrm>
          <a:prstGeom prst="rect">
            <a:avLst/>
          </a:prstGeom>
          <a:noFill/>
          <a:ln>
            <a:noFill/>
          </a:ln>
        </p:spPr>
        <p:txBody>
          <a:bodyPr anchorCtr="0" anchor="t" bIns="45700" lIns="91425" spcFirstLastPara="1" rIns="91425" wrap="square" tIns="45700">
            <a:noAutofit/>
          </a:bodyPr>
          <a:lstStyle>
            <a:lvl1pPr lvl="0" marR="0" rtl="0" algn="l">
              <a:lnSpc>
                <a:spcPct val="11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to y texto">
  <p:cSld name="Foto y texto">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49"/>
          <p:cNvSpPr/>
          <p:nvPr>
            <p:ph idx="2" type="pic"/>
          </p:nvPr>
        </p:nvSpPr>
        <p:spPr>
          <a:xfrm>
            <a:off x="3777188" y="-2"/>
            <a:ext cx="5370878" cy="5146153"/>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220"/>
              </a:spcBef>
              <a:spcAft>
                <a:spcPts val="0"/>
              </a:spcAft>
              <a:buClr>
                <a:schemeClr val="accent3"/>
              </a:buClr>
              <a:buSzPts val="1100"/>
              <a:buFont typeface="Arial"/>
              <a:buNone/>
              <a:defRPr b="0" i="0" sz="1100" u="none" cap="none" strike="noStrike">
                <a:solidFill>
                  <a:schemeClr val="accent3"/>
                </a:solidFill>
                <a:latin typeface="Arial"/>
                <a:ea typeface="Arial"/>
                <a:cs typeface="Arial"/>
                <a:sym typeface="Arial"/>
              </a:defRPr>
            </a:lvl1pPr>
            <a:lvl2pPr lvl="1"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lvl="2"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lvl="3"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lvl="4"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pic>
        <p:nvPicPr>
          <p:cNvPr id="23" name="Google Shape;23;p49"/>
          <p:cNvPicPr preferRelativeResize="0"/>
          <p:nvPr/>
        </p:nvPicPr>
        <p:blipFill rotWithShape="1">
          <a:blip r:embed="rId3">
            <a:alphaModFix/>
          </a:blip>
          <a:srcRect b="0" l="0" r="0" t="0"/>
          <a:stretch/>
        </p:blipFill>
        <p:spPr>
          <a:xfrm>
            <a:off x="497221" y="474424"/>
            <a:ext cx="1872127" cy="481886"/>
          </a:xfrm>
          <a:prstGeom prst="rect">
            <a:avLst/>
          </a:prstGeom>
          <a:noFill/>
          <a:ln>
            <a:noFill/>
          </a:ln>
        </p:spPr>
      </p:pic>
      <p:sp>
        <p:nvSpPr>
          <p:cNvPr id="24" name="Google Shape;24;p49"/>
          <p:cNvSpPr txBox="1"/>
          <p:nvPr>
            <p:ph type="title"/>
          </p:nvPr>
        </p:nvSpPr>
        <p:spPr>
          <a:xfrm>
            <a:off x="474360" y="1658126"/>
            <a:ext cx="3121647" cy="2258940"/>
          </a:xfrm>
          <a:prstGeom prst="rect">
            <a:avLst/>
          </a:prstGeom>
          <a:noFill/>
          <a:ln>
            <a:noFill/>
          </a:ln>
        </p:spPr>
        <p:txBody>
          <a:bodyPr anchorCtr="0" anchor="t" bIns="0" lIns="0" spcFirstLastPara="1" rIns="0" wrap="square" tIns="0">
            <a:noAutofit/>
          </a:bodyPr>
          <a:lstStyle>
            <a:lvl1pPr lvl="0" marR="0" rtl="0" algn="l">
              <a:lnSpc>
                <a:spcPct val="11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 name="Shape 25"/>
        <p:cNvGrpSpPr/>
        <p:nvPr/>
      </p:nvGrpSpPr>
      <p:grpSpPr>
        <a:xfrm>
          <a:off x="0" y="0"/>
          <a:ext cx="0" cy="0"/>
          <a:chOff x="0" y="0"/>
          <a:chExt cx="0" cy="0"/>
        </a:xfrm>
      </p:grpSpPr>
      <p:sp>
        <p:nvSpPr>
          <p:cNvPr id="26" name="Google Shape;26;p50"/>
          <p:cNvSpPr txBox="1"/>
          <p:nvPr>
            <p:ph idx="12" type="sldNum"/>
          </p:nvPr>
        </p:nvSpPr>
        <p:spPr>
          <a:xfrm>
            <a:off x="8556791" y="4749851"/>
            <a:ext cx="548700" cy="393600"/>
          </a:xfrm>
          <a:prstGeom prst="rect">
            <a:avLst/>
          </a:prstGeom>
          <a:noFill/>
          <a:ln>
            <a:noFill/>
          </a:ln>
        </p:spPr>
        <p:txBody>
          <a:bodyPr anchorCtr="0" anchor="ctr" bIns="71100" lIns="71100" spcFirstLastPara="1" rIns="71100" wrap="square" tIns="71100">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27" name="Google Shape;27;p50"/>
          <p:cNvSpPr txBox="1"/>
          <p:nvPr/>
        </p:nvSpPr>
        <p:spPr>
          <a:xfrm>
            <a:off x="172075" y="217025"/>
            <a:ext cx="8796300" cy="549000"/>
          </a:xfrm>
          <a:prstGeom prst="rect">
            <a:avLst/>
          </a:prstGeom>
          <a:noFill/>
          <a:ln>
            <a:noFill/>
          </a:ln>
        </p:spPr>
        <p:txBody>
          <a:bodyPr anchorCtr="0" anchor="t" bIns="94800" lIns="94800" spcFirstLastPara="1" rIns="94800" wrap="square" tIns="94800">
            <a:noAutofit/>
          </a:bodyPr>
          <a:lstStyle/>
          <a:p>
            <a:pPr indent="0" lvl="0" marL="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434343"/>
              </a:solidFill>
              <a:latin typeface="Roboto Condensed"/>
              <a:ea typeface="Roboto Condensed"/>
              <a:cs typeface="Roboto Condensed"/>
              <a:sym typeface="Roboto Condensed"/>
            </a:endParaRPr>
          </a:p>
        </p:txBody>
      </p:sp>
      <p:sp>
        <p:nvSpPr>
          <p:cNvPr id="28" name="Google Shape;28;p50"/>
          <p:cNvSpPr txBox="1"/>
          <p:nvPr/>
        </p:nvSpPr>
        <p:spPr>
          <a:xfrm>
            <a:off x="311700" y="216425"/>
            <a:ext cx="8520600" cy="572700"/>
          </a:xfrm>
          <a:prstGeom prst="rect">
            <a:avLst/>
          </a:prstGeom>
          <a:noFill/>
          <a:ln>
            <a:noFill/>
          </a:ln>
        </p:spPr>
        <p:txBody>
          <a:bodyPr anchorCtr="0" anchor="t" bIns="94800" lIns="94800" spcFirstLastPara="1" rIns="94800" wrap="square" tIns="94800">
            <a:noAutofit/>
          </a:bodyPr>
          <a:lstStyle/>
          <a:p>
            <a:pPr indent="0" lvl="0" marL="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434343"/>
              </a:solidFill>
              <a:latin typeface="Merriweather"/>
              <a:ea typeface="Merriweather"/>
              <a:cs typeface="Merriweather"/>
              <a:sym typeface="Merriweathe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png"/><Relationship Id="rId4"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p1"/>
          <p:cNvSpPr txBox="1"/>
          <p:nvPr>
            <p:ph type="title"/>
          </p:nvPr>
        </p:nvSpPr>
        <p:spPr>
          <a:xfrm>
            <a:off x="464500" y="1162100"/>
            <a:ext cx="5692200" cy="19008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chemeClr val="lt1"/>
              </a:buClr>
              <a:buSzPts val="3600"/>
              <a:buFont typeface="Arial"/>
              <a:buNone/>
            </a:pPr>
            <a:r>
              <a:rPr lang="en-US"/>
              <a:t>APX Online</a:t>
            </a:r>
            <a:endParaRPr/>
          </a:p>
          <a:p>
            <a:pPr indent="0" lvl="0" marL="0" rtl="0" algn="l">
              <a:lnSpc>
                <a:spcPct val="110000"/>
              </a:lnSpc>
              <a:spcBef>
                <a:spcPts val="0"/>
              </a:spcBef>
              <a:spcAft>
                <a:spcPts val="0"/>
              </a:spcAft>
              <a:buClr>
                <a:schemeClr val="lt1"/>
              </a:buClr>
              <a:buSzPts val="3600"/>
              <a:buFont typeface="Arial"/>
              <a:buNone/>
            </a:pPr>
            <a:r>
              <a:rPr lang="en-US"/>
              <a:t>Curso</a:t>
            </a:r>
            <a:endParaRPr/>
          </a:p>
          <a:p>
            <a:pPr indent="0" lvl="0" marL="0" rtl="0" algn="l">
              <a:lnSpc>
                <a:spcPct val="110000"/>
              </a:lnSpc>
              <a:spcBef>
                <a:spcPts val="0"/>
              </a:spcBef>
              <a:spcAft>
                <a:spcPts val="0"/>
              </a:spcAft>
              <a:buClr>
                <a:schemeClr val="lt1"/>
              </a:buClr>
              <a:buSzPts val="3600"/>
              <a:buFont typeface="Arial"/>
              <a:buNone/>
            </a:pPr>
            <a:r>
              <a:rPr lang="en-US"/>
              <a:t>Pedro Alarcon Ortiz</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sp>
        <p:nvSpPr>
          <p:cNvPr id="38" name="Google Shape;38;p3"/>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rPr lang="en-US"/>
              <a:t>¿Que es APX?</a:t>
            </a:r>
            <a:endParaRPr/>
          </a:p>
        </p:txBody>
      </p:sp>
      <p:sp>
        <p:nvSpPr>
          <p:cNvPr id="39" name="Google Shape;39;p3"/>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0" name="Google Shape;40;p3"/>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41" name="Google Shape;41;p3"/>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1100"/>
              <a:t>La Arquitectura APX o Arquitectura Backend Java Extendida </a:t>
            </a:r>
            <a:r>
              <a:rPr b="1" lang="en-US" sz="1100"/>
              <a:t>fue creada con el objetivo de ser una extensión de la Arquitectura Backend</a:t>
            </a:r>
            <a:r>
              <a:rPr lang="en-US" sz="1100"/>
              <a:t> proporcionando las mismas capacidades en el mundo distribuido.</a:t>
            </a:r>
            <a:endParaRPr sz="1100"/>
          </a:p>
          <a:p>
            <a:pPr indent="-317500" lvl="0" marL="457200" rtl="0" algn="l">
              <a:lnSpc>
                <a:spcPct val="115000"/>
              </a:lnSpc>
              <a:spcBef>
                <a:spcPts val="1200"/>
              </a:spcBef>
              <a:spcAft>
                <a:spcPts val="0"/>
              </a:spcAft>
              <a:buSzPts val="1400"/>
              <a:buChar char="●"/>
            </a:pPr>
            <a:r>
              <a:rPr lang="en-US" sz="700">
                <a:latin typeface="Times New Roman"/>
                <a:ea typeface="Times New Roman"/>
                <a:cs typeface="Times New Roman"/>
                <a:sym typeface="Times New Roman"/>
              </a:rPr>
              <a:t> </a:t>
            </a:r>
            <a:r>
              <a:rPr lang="en-US" sz="1100"/>
              <a:t>Basado en tecnologías de código abierto.</a:t>
            </a:r>
            <a:endParaRPr sz="1100"/>
          </a:p>
          <a:p>
            <a:pPr indent="-317500" lvl="0" marL="457200" rtl="0" algn="l">
              <a:lnSpc>
                <a:spcPct val="115000"/>
              </a:lnSpc>
              <a:spcBef>
                <a:spcPts val="0"/>
              </a:spcBef>
              <a:spcAft>
                <a:spcPts val="0"/>
              </a:spcAft>
              <a:buSzPts val="1400"/>
              <a:buChar char="●"/>
            </a:pPr>
            <a:r>
              <a:rPr lang="en-US" sz="700">
                <a:latin typeface="Times New Roman"/>
                <a:ea typeface="Times New Roman"/>
                <a:cs typeface="Times New Roman"/>
                <a:sym typeface="Times New Roman"/>
              </a:rPr>
              <a:t> </a:t>
            </a:r>
            <a:r>
              <a:rPr lang="en-US" sz="1100"/>
              <a:t>Ofrece una alternativa confiable para el desarrollo de transacciones que no está acoplada al canal.</a:t>
            </a:r>
            <a:endParaRPr sz="1100"/>
          </a:p>
          <a:p>
            <a:pPr indent="-317500" lvl="0" marL="457200" rtl="0" algn="l">
              <a:lnSpc>
                <a:spcPct val="115000"/>
              </a:lnSpc>
              <a:spcBef>
                <a:spcPts val="0"/>
              </a:spcBef>
              <a:spcAft>
                <a:spcPts val="0"/>
              </a:spcAft>
              <a:buSzPts val="1400"/>
              <a:buChar char="●"/>
            </a:pPr>
            <a:r>
              <a:rPr lang="en-US" sz="700">
                <a:latin typeface="Times New Roman"/>
                <a:ea typeface="Times New Roman"/>
                <a:cs typeface="Times New Roman"/>
                <a:sym typeface="Times New Roman"/>
              </a:rPr>
              <a:t> </a:t>
            </a:r>
            <a:r>
              <a:rPr b="1" lang="en-US" sz="1100"/>
              <a:t>Actúa como una extensión de la plataforma Mainframe.</a:t>
            </a:r>
            <a:endParaRPr b="1" sz="1100"/>
          </a:p>
          <a:p>
            <a:pPr indent="-298450" lvl="0" marL="457200" rtl="0" algn="l">
              <a:lnSpc>
                <a:spcPct val="115000"/>
              </a:lnSpc>
              <a:spcBef>
                <a:spcPts val="0"/>
              </a:spcBef>
              <a:spcAft>
                <a:spcPts val="0"/>
              </a:spcAft>
              <a:buSzPts val="1100"/>
              <a:buChar char="●"/>
            </a:pPr>
            <a:r>
              <a:rPr lang="en-US" sz="1100"/>
              <a:t>Apoya la lógica de las aplicaciones que se adaptan a esta plataforma.</a:t>
            </a:r>
            <a:endParaRPr sz="1100"/>
          </a:p>
          <a:p>
            <a:pPr indent="-317500" lvl="0" marL="457200" rtl="0" algn="l">
              <a:lnSpc>
                <a:spcPct val="115000"/>
              </a:lnSpc>
              <a:spcBef>
                <a:spcPts val="0"/>
              </a:spcBef>
              <a:spcAft>
                <a:spcPts val="0"/>
              </a:spcAft>
              <a:buSzPts val="1400"/>
              <a:buChar char="●"/>
            </a:pPr>
            <a:r>
              <a:rPr lang="en-US" sz="700">
                <a:latin typeface="Times New Roman"/>
                <a:ea typeface="Times New Roman"/>
                <a:cs typeface="Times New Roman"/>
                <a:sym typeface="Times New Roman"/>
              </a:rPr>
              <a:t> </a:t>
            </a:r>
            <a:r>
              <a:rPr b="1" lang="en-US" sz="1100"/>
              <a:t>Ayuda a reducir el uso del Mainframe</a:t>
            </a:r>
            <a:endParaRPr b="1" sz="1100"/>
          </a:p>
          <a:p>
            <a:pPr indent="-317500" lvl="0" marL="457200" rtl="0" algn="l">
              <a:lnSpc>
                <a:spcPct val="115000"/>
              </a:lnSpc>
              <a:spcBef>
                <a:spcPts val="0"/>
              </a:spcBef>
              <a:spcAft>
                <a:spcPts val="0"/>
              </a:spcAft>
              <a:buSzPts val="1400"/>
              <a:buChar char="●"/>
            </a:pPr>
            <a:r>
              <a:rPr lang="en-US" sz="700">
                <a:latin typeface="Times New Roman"/>
                <a:ea typeface="Times New Roman"/>
                <a:cs typeface="Times New Roman"/>
                <a:sym typeface="Times New Roman"/>
              </a:rPr>
              <a:t> </a:t>
            </a:r>
            <a:r>
              <a:rPr lang="en-US" sz="1100"/>
              <a:t>Las operaciones de misión crítica para el banco se ejecutan bajo APX.</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gdfd45110a4_0_1"/>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rPr lang="en-US" sz="1100">
                <a:solidFill>
                  <a:srgbClr val="000000"/>
                </a:solidFill>
              </a:rPr>
              <a:t>Transacción APX</a:t>
            </a:r>
            <a:endParaRPr/>
          </a:p>
        </p:txBody>
      </p:sp>
      <p:sp>
        <p:nvSpPr>
          <p:cNvPr id="47" name="Google Shape;47;gdfd45110a4_0_1"/>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8" name="Google Shape;48;gdfd45110a4_0_1"/>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49" name="Google Shape;49;gdfd45110a4_0_1"/>
          <p:cNvSpPr txBox="1"/>
          <p:nvPr/>
        </p:nvSpPr>
        <p:spPr>
          <a:xfrm>
            <a:off x="133975" y="1003901"/>
            <a:ext cx="6884100" cy="343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0"/>
              </a:spcAft>
              <a:buNone/>
            </a:pPr>
            <a:r>
              <a:rPr lang="en-US"/>
              <a:t>U</a:t>
            </a:r>
            <a:r>
              <a:rPr lang="en-US"/>
              <a:t>na transacción es la unidad de aplicación que se ejecutará en APX Online. </a:t>
            </a:r>
            <a:endParaRPr/>
          </a:p>
          <a:p>
            <a:pPr indent="0" lvl="0" marL="0" rtl="0" algn="l">
              <a:lnSpc>
                <a:spcPct val="115000"/>
              </a:lnSpc>
              <a:spcBef>
                <a:spcPts val="1200"/>
              </a:spcBef>
              <a:spcAft>
                <a:spcPts val="0"/>
              </a:spcAft>
              <a:buNone/>
            </a:pPr>
            <a:r>
              <a:rPr lang="en-US"/>
              <a:t>Define la Unidad Transaccional a nivel de lógica de aplicación.</a:t>
            </a:r>
            <a:endParaRPr/>
          </a:p>
          <a:p>
            <a:pPr indent="0" lvl="0" marL="0" rtl="0" algn="l">
              <a:lnSpc>
                <a:spcPct val="115000"/>
              </a:lnSpc>
              <a:spcBef>
                <a:spcPts val="1200"/>
              </a:spcBef>
              <a:spcAft>
                <a:spcPts val="0"/>
              </a:spcAft>
              <a:buNone/>
            </a:pPr>
            <a:r>
              <a:rPr lang="en-US"/>
              <a:t>(</a:t>
            </a:r>
            <a:r>
              <a:rPr lang="en-US"/>
              <a:t>Operación</a:t>
            </a:r>
            <a:r>
              <a:rPr lang="en-US"/>
              <a:t> de las diversas </a:t>
            </a:r>
            <a:r>
              <a:rPr lang="en-US"/>
              <a:t>Ejecuciones</a:t>
            </a:r>
            <a:r>
              <a:rPr lang="en-US"/>
              <a:t> entre los distintos componentes APX)</a:t>
            </a:r>
            <a:endParaRPr/>
          </a:p>
          <a:p>
            <a:pPr indent="0" lvl="0" marL="457200" rtl="0" algn="l">
              <a:lnSpc>
                <a:spcPct val="115000"/>
              </a:lnSpc>
              <a:spcBef>
                <a:spcPts val="1200"/>
              </a:spcBef>
              <a:spcAft>
                <a:spcPts val="1200"/>
              </a:spcAft>
              <a:buNone/>
            </a:pPr>
            <a:r>
              <a:t/>
            </a:r>
            <a:endParaRPr/>
          </a:p>
        </p:txBody>
      </p:sp>
      <p:sp>
        <p:nvSpPr>
          <p:cNvPr id="50" name="Google Shape;50;gdfd45110a4_0_1"/>
          <p:cNvSpPr/>
          <p:nvPr/>
        </p:nvSpPr>
        <p:spPr>
          <a:xfrm>
            <a:off x="1864525" y="2582200"/>
            <a:ext cx="624600" cy="275700"/>
          </a:xfrm>
          <a:prstGeom prst="roundRect">
            <a:avLst>
              <a:gd fmla="val 16667" name="adj"/>
            </a:avLst>
          </a:prstGeom>
          <a:solidFill>
            <a:schemeClr val="lt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1"/>
                </a:solidFill>
              </a:rPr>
              <a:t>TX</a:t>
            </a:r>
            <a:endParaRPr sz="800">
              <a:solidFill>
                <a:schemeClr val="lt1"/>
              </a:solidFill>
            </a:endParaRPr>
          </a:p>
        </p:txBody>
      </p:sp>
      <p:sp>
        <p:nvSpPr>
          <p:cNvPr id="51" name="Google Shape;51;gdfd45110a4_0_1"/>
          <p:cNvSpPr/>
          <p:nvPr/>
        </p:nvSpPr>
        <p:spPr>
          <a:xfrm>
            <a:off x="1797950" y="3120250"/>
            <a:ext cx="624600" cy="275700"/>
          </a:xfrm>
          <a:prstGeom prst="roundRect">
            <a:avLst>
              <a:gd fmla="val 16667" name="adj"/>
            </a:avLst>
          </a:prstGeom>
          <a:solidFill>
            <a:schemeClr val="lt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1"/>
                </a:solidFill>
              </a:rPr>
              <a:t>LIB</a:t>
            </a:r>
            <a:endParaRPr sz="800">
              <a:solidFill>
                <a:schemeClr val="lt1"/>
              </a:solidFill>
            </a:endParaRPr>
          </a:p>
        </p:txBody>
      </p:sp>
      <p:cxnSp>
        <p:nvCxnSpPr>
          <p:cNvPr id="52" name="Google Shape;52;gdfd45110a4_0_1"/>
          <p:cNvCxnSpPr>
            <a:stCxn id="50" idx="2"/>
            <a:endCxn id="51" idx="0"/>
          </p:cNvCxnSpPr>
          <p:nvPr/>
        </p:nvCxnSpPr>
        <p:spPr>
          <a:xfrm flipH="1">
            <a:off x="2110225" y="2857900"/>
            <a:ext cx="66600" cy="262500"/>
          </a:xfrm>
          <a:prstGeom prst="straightConnector1">
            <a:avLst/>
          </a:prstGeom>
          <a:noFill/>
          <a:ln cap="flat" cmpd="sng" w="9525">
            <a:solidFill>
              <a:schemeClr val="dk2"/>
            </a:solidFill>
            <a:prstDash val="solid"/>
            <a:round/>
            <a:headEnd len="med" w="med" type="none"/>
            <a:tailEnd len="med" w="med" type="triangle"/>
          </a:ln>
        </p:spPr>
      </p:cxnSp>
      <p:sp>
        <p:nvSpPr>
          <p:cNvPr id="53" name="Google Shape;53;gdfd45110a4_0_1"/>
          <p:cNvSpPr/>
          <p:nvPr/>
        </p:nvSpPr>
        <p:spPr>
          <a:xfrm>
            <a:off x="2631275" y="3120250"/>
            <a:ext cx="624600" cy="275700"/>
          </a:xfrm>
          <a:prstGeom prst="roundRect">
            <a:avLst>
              <a:gd fmla="val 16667" name="adj"/>
            </a:avLst>
          </a:prstGeom>
          <a:solidFill>
            <a:schemeClr val="lt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1"/>
                </a:solidFill>
              </a:rPr>
              <a:t>LIB</a:t>
            </a:r>
            <a:endParaRPr sz="800">
              <a:solidFill>
                <a:schemeClr val="lt1"/>
              </a:solidFill>
            </a:endParaRPr>
          </a:p>
        </p:txBody>
      </p:sp>
      <p:sp>
        <p:nvSpPr>
          <p:cNvPr id="54" name="Google Shape;54;gdfd45110a4_0_1"/>
          <p:cNvSpPr/>
          <p:nvPr/>
        </p:nvSpPr>
        <p:spPr>
          <a:xfrm>
            <a:off x="964625" y="3263925"/>
            <a:ext cx="624600" cy="275700"/>
          </a:xfrm>
          <a:prstGeom prst="roundRect">
            <a:avLst>
              <a:gd fmla="val 16667" name="adj"/>
            </a:avLst>
          </a:prstGeom>
          <a:solidFill>
            <a:schemeClr val="lt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1"/>
                </a:solidFill>
              </a:rPr>
              <a:t>LIB</a:t>
            </a:r>
            <a:endParaRPr sz="800">
              <a:solidFill>
                <a:schemeClr val="lt1"/>
              </a:solidFill>
            </a:endParaRPr>
          </a:p>
        </p:txBody>
      </p:sp>
      <p:cxnSp>
        <p:nvCxnSpPr>
          <p:cNvPr id="55" name="Google Shape;55;gdfd45110a4_0_1"/>
          <p:cNvCxnSpPr>
            <a:stCxn id="50" idx="1"/>
            <a:endCxn id="54" idx="0"/>
          </p:cNvCxnSpPr>
          <p:nvPr/>
        </p:nvCxnSpPr>
        <p:spPr>
          <a:xfrm flipH="1">
            <a:off x="1276825" y="2720050"/>
            <a:ext cx="587700" cy="543900"/>
          </a:xfrm>
          <a:prstGeom prst="straightConnector1">
            <a:avLst/>
          </a:prstGeom>
          <a:noFill/>
          <a:ln cap="flat" cmpd="sng" w="9525">
            <a:solidFill>
              <a:schemeClr val="dk2"/>
            </a:solidFill>
            <a:prstDash val="solid"/>
            <a:round/>
            <a:headEnd len="med" w="med" type="none"/>
            <a:tailEnd len="med" w="med" type="triangle"/>
          </a:ln>
        </p:spPr>
      </p:cxnSp>
      <p:cxnSp>
        <p:nvCxnSpPr>
          <p:cNvPr id="56" name="Google Shape;56;gdfd45110a4_0_1"/>
          <p:cNvCxnSpPr>
            <a:stCxn id="50" idx="3"/>
            <a:endCxn id="53" idx="0"/>
          </p:cNvCxnSpPr>
          <p:nvPr/>
        </p:nvCxnSpPr>
        <p:spPr>
          <a:xfrm>
            <a:off x="2489125" y="2720050"/>
            <a:ext cx="454500" cy="400200"/>
          </a:xfrm>
          <a:prstGeom prst="straightConnector1">
            <a:avLst/>
          </a:prstGeom>
          <a:noFill/>
          <a:ln cap="flat" cmpd="sng" w="9525">
            <a:solidFill>
              <a:schemeClr val="dk2"/>
            </a:solidFill>
            <a:prstDash val="solid"/>
            <a:round/>
            <a:headEnd len="med" w="med" type="none"/>
            <a:tailEnd len="med" w="med" type="triangle"/>
          </a:ln>
        </p:spPr>
      </p:cxnSp>
      <p:sp>
        <p:nvSpPr>
          <p:cNvPr id="57" name="Google Shape;57;gdfd45110a4_0_1"/>
          <p:cNvSpPr/>
          <p:nvPr/>
        </p:nvSpPr>
        <p:spPr>
          <a:xfrm>
            <a:off x="908700" y="3840150"/>
            <a:ext cx="624600" cy="275700"/>
          </a:xfrm>
          <a:prstGeom prst="roundRect">
            <a:avLst>
              <a:gd fmla="val 16667" name="adj"/>
            </a:avLst>
          </a:prstGeom>
          <a:solidFill>
            <a:schemeClr val="lt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1"/>
                </a:solidFill>
              </a:rPr>
              <a:t>DTO</a:t>
            </a:r>
            <a:endParaRPr sz="8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gdfd45110a4_0_8"/>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rPr lang="en-US" sz="1100">
                <a:solidFill>
                  <a:srgbClr val="000000"/>
                </a:solidFill>
              </a:rPr>
              <a:t>Biblioteca APX</a:t>
            </a:r>
            <a:endParaRPr/>
          </a:p>
        </p:txBody>
      </p:sp>
      <p:sp>
        <p:nvSpPr>
          <p:cNvPr id="63" name="Google Shape;63;gdfd45110a4_0_8"/>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4" name="Google Shape;64;gdfd45110a4_0_8"/>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65" name="Google Shape;65;gdfd45110a4_0_8"/>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t>E</a:t>
            </a:r>
            <a:r>
              <a:rPr lang="en-US"/>
              <a:t>ncapsula la lógica empresarial y el acceso a los datos. </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1200"/>
              </a:spcAft>
              <a:buNone/>
            </a:pPr>
            <a:r>
              <a:rPr lang="en-US"/>
              <a:t>Publica su interfaz para que pueda ser utilizada por terceros.</a:t>
            </a:r>
            <a:endParaRPr/>
          </a:p>
        </p:txBody>
      </p:sp>
      <p:sp>
        <p:nvSpPr>
          <p:cNvPr id="66" name="Google Shape;66;gdfd45110a4_0_8"/>
          <p:cNvSpPr/>
          <p:nvPr/>
        </p:nvSpPr>
        <p:spPr>
          <a:xfrm>
            <a:off x="1535550" y="2457800"/>
            <a:ext cx="1917900" cy="1007700"/>
          </a:xfrm>
          <a:prstGeom prst="roundRect">
            <a:avLst>
              <a:gd fmla="val 16667" name="adj"/>
            </a:avLst>
          </a:prstGeom>
          <a:solidFill>
            <a:schemeClr val="lt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1"/>
                </a:solidFill>
              </a:rPr>
              <a:t>LIB</a:t>
            </a:r>
            <a:endParaRPr sz="800">
              <a:solidFill>
                <a:schemeClr val="lt1"/>
              </a:solidFill>
            </a:endParaRPr>
          </a:p>
          <a:p>
            <a:pPr indent="0" lvl="0" marL="0" rtl="0" algn="ctr">
              <a:spcBef>
                <a:spcPts val="0"/>
              </a:spcBef>
              <a:spcAft>
                <a:spcPts val="0"/>
              </a:spcAft>
              <a:buNone/>
            </a:pPr>
            <a:r>
              <a:rPr lang="en-US" sz="800">
                <a:solidFill>
                  <a:schemeClr val="lt1"/>
                </a:solidFill>
              </a:rPr>
              <a:t>Si X = 0 Usuario correcto </a:t>
            </a:r>
            <a:endParaRPr sz="800">
              <a:solidFill>
                <a:schemeClr val="lt1"/>
              </a:solidFill>
            </a:endParaRPr>
          </a:p>
          <a:p>
            <a:pPr indent="0" lvl="0" marL="0" rtl="0" algn="ctr">
              <a:spcBef>
                <a:spcPts val="0"/>
              </a:spcBef>
              <a:spcAft>
                <a:spcPts val="0"/>
              </a:spcAft>
              <a:buNone/>
            </a:pPr>
            <a:r>
              <a:rPr lang="en-US" sz="800">
                <a:solidFill>
                  <a:schemeClr val="lt1"/>
                </a:solidFill>
              </a:rPr>
              <a:t>Sino usuario Incorrecto</a:t>
            </a:r>
            <a:endParaRPr sz="8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gdfd45110a4_0_22"/>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rPr lang="en-US"/>
              <a:t>Biblioteca APX</a:t>
            </a:r>
            <a:endParaRPr/>
          </a:p>
        </p:txBody>
      </p:sp>
      <p:sp>
        <p:nvSpPr>
          <p:cNvPr id="72" name="Google Shape;72;gdfd45110a4_0_22"/>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3" name="Google Shape;73;gdfd45110a4_0_22"/>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74" name="Google Shape;74;gdfd45110a4_0_22"/>
          <p:cNvSpPr txBox="1"/>
          <p:nvPr/>
        </p:nvSpPr>
        <p:spPr>
          <a:xfrm>
            <a:off x="471600" y="979966"/>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US" sz="1100"/>
              <a:t>Estrategia de desarrollo</a:t>
            </a:r>
            <a:r>
              <a:rPr lang="en-US" sz="1100"/>
              <a:t>: Todo el acceso a los datos debe estar encapsulado en una biblioteca para facilitar la reutilización y el control de acceso.</a:t>
            </a:r>
            <a:endParaRPr sz="1100"/>
          </a:p>
        </p:txBody>
      </p:sp>
      <p:pic>
        <p:nvPicPr>
          <p:cNvPr id="75" name="Google Shape;75;gdfd45110a4_0_22"/>
          <p:cNvPicPr preferRelativeResize="0"/>
          <p:nvPr/>
        </p:nvPicPr>
        <p:blipFill>
          <a:blip r:embed="rId4">
            <a:alphaModFix/>
          </a:blip>
          <a:stretch>
            <a:fillRect/>
          </a:stretch>
        </p:blipFill>
        <p:spPr>
          <a:xfrm>
            <a:off x="1766898" y="1515398"/>
            <a:ext cx="4598174" cy="2708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gdfd45110a4_0_29"/>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1600">
                <a:solidFill>
                  <a:srgbClr val="000000"/>
                </a:solidFill>
              </a:rPr>
              <a:t>Utilidades APX</a:t>
            </a:r>
            <a:endParaRPr sz="1600">
              <a:solidFill>
                <a:srgbClr val="000000"/>
              </a:solidFill>
            </a:endParaRPr>
          </a:p>
          <a:p>
            <a:pPr indent="0" lvl="0" marL="0" marR="0" rtl="0" algn="l">
              <a:lnSpc>
                <a:spcPct val="100000"/>
              </a:lnSpc>
              <a:spcBef>
                <a:spcPts val="1200"/>
              </a:spcBef>
              <a:spcAft>
                <a:spcPts val="0"/>
              </a:spcAft>
              <a:buClr>
                <a:schemeClr val="accent4"/>
              </a:buClr>
              <a:buSzPts val="2000"/>
              <a:buFont typeface="Arial"/>
              <a:buNone/>
            </a:pPr>
            <a:r>
              <a:t/>
            </a:r>
            <a:endParaRPr/>
          </a:p>
        </p:txBody>
      </p:sp>
      <p:sp>
        <p:nvSpPr>
          <p:cNvPr id="81" name="Google Shape;81;gdfd45110a4_0_29"/>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2" name="Google Shape;82;gdfd45110a4_0_29"/>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83" name="Google Shape;83;gdfd45110a4_0_29"/>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1100"/>
              <a:t>La arquitectura en línea APX se proporciona con un conjunto de utilidades.</a:t>
            </a:r>
            <a:endParaRPr sz="1100"/>
          </a:p>
          <a:p>
            <a:pPr indent="0" lvl="0" marL="0" rtl="0" algn="l">
              <a:lnSpc>
                <a:spcPct val="115000"/>
              </a:lnSpc>
              <a:spcBef>
                <a:spcPts val="1200"/>
              </a:spcBef>
              <a:spcAft>
                <a:spcPts val="0"/>
              </a:spcAft>
              <a:buNone/>
            </a:pPr>
            <a:r>
              <a:rPr b="1" lang="en-US" sz="1100"/>
              <a:t>Utilidades</a:t>
            </a:r>
            <a:r>
              <a:rPr lang="en-US" sz="1100"/>
              <a:t> </a:t>
            </a:r>
            <a:r>
              <a:rPr b="1" lang="en-US" sz="1100"/>
              <a:t>proporcionadas por bibliotecas</a:t>
            </a:r>
            <a:r>
              <a:rPr lang="en-US" sz="1100"/>
              <a:t> : son bibliotecas cuya utilidad puede ser recuperada por el usuario de la propia biblioteca. </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1200"/>
              </a:spcAft>
              <a:buNone/>
            </a:pPr>
            <a:r>
              <a:rPr lang="en-US" sz="1100"/>
              <a:t>Estas bibliotecas se describen a </a:t>
            </a:r>
            <a:r>
              <a:rPr lang="en-US" sz="1100"/>
              <a:t>continuación</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dfd45110a4_0_36"/>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rPr lang="en-US"/>
              <a:t>Utilidades Especificas</a:t>
            </a:r>
            <a:endParaRPr/>
          </a:p>
        </p:txBody>
      </p:sp>
      <p:sp>
        <p:nvSpPr>
          <p:cNvPr id="89" name="Google Shape;89;gdfd45110a4_0_36"/>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0" name="Google Shape;90;gdfd45110a4_0_36"/>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91" name="Google Shape;91;gdfd45110a4_0_36"/>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1100"/>
              <a:t>Bibliotecas de bases de datos relacionales.</a:t>
            </a:r>
            <a:endParaRPr b="1" sz="1100"/>
          </a:p>
          <a:p>
            <a:pPr indent="0" lvl="0" marL="0" rtl="0" algn="l">
              <a:lnSpc>
                <a:spcPct val="115000"/>
              </a:lnSpc>
              <a:spcBef>
                <a:spcPts val="1200"/>
              </a:spcBef>
              <a:spcAft>
                <a:spcPts val="0"/>
              </a:spcAft>
              <a:buNone/>
            </a:pPr>
            <a:r>
              <a:rPr b="1" lang="en-US" sz="1100"/>
              <a:t>Bibliotecas del motor de reglas.</a:t>
            </a:r>
            <a:endParaRPr b="1" sz="1100"/>
          </a:p>
          <a:p>
            <a:pPr indent="0" lvl="0" marL="0" rtl="0" algn="l">
              <a:lnSpc>
                <a:spcPct val="115000"/>
              </a:lnSpc>
              <a:spcBef>
                <a:spcPts val="1200"/>
              </a:spcBef>
              <a:spcAft>
                <a:spcPts val="0"/>
              </a:spcAft>
              <a:buNone/>
            </a:pPr>
            <a:r>
              <a:rPr b="1" lang="en-US" sz="1100"/>
              <a:t>Bibliotecas MongoDB.</a:t>
            </a:r>
            <a:endParaRPr b="1" sz="1100"/>
          </a:p>
          <a:p>
            <a:pPr indent="0" lvl="0" marL="0" rtl="0" algn="l">
              <a:lnSpc>
                <a:spcPct val="115000"/>
              </a:lnSpc>
              <a:spcBef>
                <a:spcPts val="1200"/>
              </a:spcBef>
              <a:spcAft>
                <a:spcPts val="0"/>
              </a:spcAft>
              <a:buNone/>
            </a:pPr>
            <a:r>
              <a:rPr b="1" lang="en-US" sz="1100"/>
              <a:t>Bibliotecas de conectores.</a:t>
            </a:r>
            <a:endParaRPr b="1" sz="1100"/>
          </a:p>
          <a:p>
            <a:pPr indent="0" lvl="0" marL="0" rtl="0" algn="l">
              <a:lnSpc>
                <a:spcPct val="115000"/>
              </a:lnSpc>
              <a:spcBef>
                <a:spcPts val="1200"/>
              </a:spcBef>
              <a:spcAft>
                <a:spcPts val="0"/>
              </a:spcAft>
              <a:buNone/>
            </a:pPr>
            <a:r>
              <a:rPr b="1" lang="en-US" sz="1100"/>
              <a:t>Interbackend.</a:t>
            </a:r>
            <a:endParaRPr b="1" sz="1100"/>
          </a:p>
          <a:p>
            <a:pPr indent="-1346200" lvl="0" marL="1346200" rtl="0" algn="l">
              <a:lnSpc>
                <a:spcPct val="115000"/>
              </a:lnSpc>
              <a:spcBef>
                <a:spcPts val="1200"/>
              </a:spcBef>
              <a:spcAft>
                <a:spcPts val="0"/>
              </a:spcAft>
              <a:buNone/>
            </a:pPr>
            <a:r>
              <a:rPr b="1" lang="en-US" sz="1100"/>
              <a:t>Gestor de documentos.</a:t>
            </a:r>
            <a:endParaRPr b="1" sz="1100"/>
          </a:p>
          <a:p>
            <a:pPr indent="0" lvl="0" marL="0" rtl="0" algn="l">
              <a:lnSpc>
                <a:spcPct val="115000"/>
              </a:lnSpc>
              <a:spcBef>
                <a:spcPts val="1200"/>
              </a:spcBef>
              <a:spcAft>
                <a:spcPts val="0"/>
              </a:spcAft>
              <a:buNone/>
            </a:pPr>
            <a:r>
              <a:rPr b="1" lang="en-US" sz="1100"/>
              <a:t>Creador de documentos.</a:t>
            </a:r>
            <a:endParaRPr b="1" sz="1100"/>
          </a:p>
          <a:p>
            <a:pPr indent="0" lvl="0" marL="0" rtl="0" algn="l">
              <a:lnSpc>
                <a:spcPct val="115000"/>
              </a:lnSpc>
              <a:spcBef>
                <a:spcPts val="1200"/>
              </a:spcBef>
              <a:spcAft>
                <a:spcPts val="0"/>
              </a:spcAft>
              <a:buNone/>
            </a:pPr>
            <a:r>
              <a:rPr b="1" lang="en-US" sz="1100"/>
              <a:t>Conector API.</a:t>
            </a:r>
            <a:endParaRPr b="1" sz="1100"/>
          </a:p>
          <a:p>
            <a:pPr indent="0" lvl="0" marL="457200" rtl="0" algn="l">
              <a:lnSpc>
                <a:spcPct val="115000"/>
              </a:lnSpc>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dfd45110a4_0_43"/>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1200"/>
              </a:spcAft>
              <a:buNone/>
            </a:pPr>
            <a:r>
              <a:rPr lang="en-US" sz="1100">
                <a:solidFill>
                  <a:srgbClr val="000000"/>
                </a:solidFill>
              </a:rPr>
              <a:t>Utilidades comunes</a:t>
            </a:r>
            <a:endParaRPr/>
          </a:p>
        </p:txBody>
      </p:sp>
      <p:sp>
        <p:nvSpPr>
          <p:cNvPr id="97" name="Google Shape;97;gdfd45110a4_0_43"/>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8" name="Google Shape;98;gdfd45110a4_0_43"/>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99" name="Google Shape;99;gdfd45110a4_0_43"/>
          <p:cNvSpPr txBox="1"/>
          <p:nvPr/>
        </p:nvSpPr>
        <p:spPr>
          <a:xfrm>
            <a:off x="849100" y="11139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b="1" sz="1100"/>
          </a:p>
          <a:p>
            <a:pPr indent="0" lvl="0" marL="0" rtl="0" algn="l">
              <a:lnSpc>
                <a:spcPct val="115000"/>
              </a:lnSpc>
              <a:spcBef>
                <a:spcPts val="1200"/>
              </a:spcBef>
              <a:spcAft>
                <a:spcPts val="0"/>
              </a:spcAft>
              <a:buNone/>
            </a:pPr>
            <a:r>
              <a:rPr b="1" lang="en-US" sz="1100"/>
              <a:t>Errores y advertencias.</a:t>
            </a:r>
            <a:endParaRPr b="1" sz="1100"/>
          </a:p>
          <a:p>
            <a:pPr indent="0" lvl="0" marL="0" rtl="0" algn="l">
              <a:lnSpc>
                <a:spcPct val="115000"/>
              </a:lnSpc>
              <a:spcBef>
                <a:spcPts val="1200"/>
              </a:spcBef>
              <a:spcAft>
                <a:spcPts val="0"/>
              </a:spcAft>
              <a:buNone/>
            </a:pPr>
            <a:r>
              <a:rPr b="1" lang="en-US" sz="1100"/>
              <a:t>Manejo de trazas.</a:t>
            </a:r>
            <a:endParaRPr b="1" sz="1100"/>
          </a:p>
          <a:p>
            <a:pPr indent="0" lvl="0" marL="0" rtl="0" algn="l">
              <a:lnSpc>
                <a:spcPct val="115000"/>
              </a:lnSpc>
              <a:spcBef>
                <a:spcPts val="1200"/>
              </a:spcBef>
              <a:spcAft>
                <a:spcPts val="0"/>
              </a:spcAft>
              <a:buNone/>
            </a:pPr>
            <a:r>
              <a:rPr b="1" lang="en-US" sz="1100"/>
              <a:t>Información de entrada / salida.</a:t>
            </a:r>
            <a:endParaRPr b="1" sz="1100"/>
          </a:p>
          <a:p>
            <a:pPr indent="0" lvl="0" marL="0" rtl="0" algn="l">
              <a:lnSpc>
                <a:spcPct val="115000"/>
              </a:lnSpc>
              <a:spcBef>
                <a:spcPts val="1200"/>
              </a:spcBef>
              <a:spcAft>
                <a:spcPts val="1200"/>
              </a:spcAft>
              <a:buNone/>
            </a:pPr>
            <a:r>
              <a:rPr b="1" lang="en-US" sz="1100"/>
              <a:t>Recuperación de datos de encabezado.</a:t>
            </a:r>
            <a:endParaRPr b="1"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dfd45110a4_0_15"/>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rPr lang="en-US" sz="1100">
                <a:solidFill>
                  <a:srgbClr val="000000"/>
                </a:solidFill>
              </a:rPr>
              <a:t>DTO en APX</a:t>
            </a:r>
            <a:endParaRPr/>
          </a:p>
        </p:txBody>
      </p:sp>
      <p:sp>
        <p:nvSpPr>
          <p:cNvPr id="105" name="Google Shape;105;gdfd45110a4_0_15"/>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6" name="Google Shape;106;gdfd45110a4_0_15"/>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107" name="Google Shape;107;gdfd45110a4_0_15"/>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0"/>
              </a:spcAft>
              <a:buNone/>
            </a:pPr>
            <a:r>
              <a:rPr lang="en-US"/>
              <a:t>Representación de una Entidad Comercial en forma de Bean(</a:t>
            </a:r>
            <a:r>
              <a:rPr lang="en-US"/>
              <a:t>agrupación</a:t>
            </a:r>
            <a:r>
              <a:rPr lang="en-US"/>
              <a:t> de objetos).</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1200"/>
              </a:spcAft>
              <a:buNone/>
            </a:pPr>
            <a:r>
              <a:rPr lang="en-US"/>
              <a:t>Por ejemplo : Representa los campos a usar o mapear desde BBDD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dfd45110a4_0_50"/>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rPr lang="en-US"/>
              <a:t>Campos Entrada</a:t>
            </a:r>
            <a:endParaRPr/>
          </a:p>
        </p:txBody>
      </p:sp>
      <p:sp>
        <p:nvSpPr>
          <p:cNvPr id="113" name="Google Shape;113;gdfd45110a4_0_50"/>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4" name="Google Shape;114;gdfd45110a4_0_50"/>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115" name="Google Shape;115;gdfd45110a4_0_50"/>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200"/>
              </a:spcBef>
              <a:spcAft>
                <a:spcPts val="1200"/>
              </a:spcAft>
              <a:buNone/>
            </a:pPr>
            <a:r>
              <a:t/>
            </a:r>
            <a:endParaRPr/>
          </a:p>
        </p:txBody>
      </p:sp>
      <p:pic>
        <p:nvPicPr>
          <p:cNvPr id="116" name="Google Shape;116;gdfd45110a4_0_50"/>
          <p:cNvPicPr preferRelativeResize="0"/>
          <p:nvPr/>
        </p:nvPicPr>
        <p:blipFill>
          <a:blip r:embed="rId4">
            <a:alphaModFix/>
          </a:blip>
          <a:stretch>
            <a:fillRect/>
          </a:stretch>
        </p:blipFill>
        <p:spPr>
          <a:xfrm>
            <a:off x="328613" y="1285875"/>
            <a:ext cx="8486775" cy="2571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dfd45110a4_0_77"/>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rPr lang="en-US"/>
              <a:t>Campos Entrada</a:t>
            </a:r>
            <a:endParaRPr/>
          </a:p>
        </p:txBody>
      </p:sp>
      <p:sp>
        <p:nvSpPr>
          <p:cNvPr id="122" name="Google Shape;122;gdfd45110a4_0_77"/>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3" name="Google Shape;123;gdfd45110a4_0_77"/>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124" name="Google Shape;124;gdfd45110a4_0_77"/>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200"/>
              </a:spcBef>
              <a:spcAft>
                <a:spcPts val="1200"/>
              </a:spcAft>
              <a:buNone/>
            </a:pPr>
            <a:r>
              <a:t/>
            </a:r>
            <a:endParaRPr/>
          </a:p>
        </p:txBody>
      </p:sp>
      <p:pic>
        <p:nvPicPr>
          <p:cNvPr id="125" name="Google Shape;125;gdfd45110a4_0_77"/>
          <p:cNvPicPr preferRelativeResize="0"/>
          <p:nvPr/>
        </p:nvPicPr>
        <p:blipFill>
          <a:blip r:embed="rId4">
            <a:alphaModFix/>
          </a:blip>
          <a:stretch>
            <a:fillRect/>
          </a:stretch>
        </p:blipFill>
        <p:spPr>
          <a:xfrm>
            <a:off x="918400" y="748725"/>
            <a:ext cx="5145335" cy="3621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dfd45110a4_0_69"/>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rPr lang="en-US"/>
              <a:t>Campos Entrada</a:t>
            </a:r>
            <a:endParaRPr/>
          </a:p>
        </p:txBody>
      </p:sp>
      <p:sp>
        <p:nvSpPr>
          <p:cNvPr id="131" name="Google Shape;131;gdfd45110a4_0_69"/>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2" name="Google Shape;132;gdfd45110a4_0_69"/>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133" name="Google Shape;133;gdfd45110a4_0_69"/>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200"/>
              </a:spcBef>
              <a:spcAft>
                <a:spcPts val="1200"/>
              </a:spcAft>
              <a:buNone/>
            </a:pPr>
            <a:r>
              <a:t/>
            </a:r>
            <a:endParaRPr/>
          </a:p>
        </p:txBody>
      </p:sp>
      <p:pic>
        <p:nvPicPr>
          <p:cNvPr id="134" name="Google Shape;134;gdfd45110a4_0_69"/>
          <p:cNvPicPr preferRelativeResize="0"/>
          <p:nvPr/>
        </p:nvPicPr>
        <p:blipFill>
          <a:blip r:embed="rId4">
            <a:alphaModFix/>
          </a:blip>
          <a:stretch>
            <a:fillRect/>
          </a:stretch>
        </p:blipFill>
        <p:spPr>
          <a:xfrm>
            <a:off x="3014662" y="947738"/>
            <a:ext cx="3511296" cy="3552825"/>
          </a:xfrm>
          <a:prstGeom prst="rect">
            <a:avLst/>
          </a:prstGeom>
          <a:noFill/>
          <a:ln>
            <a:noFill/>
          </a:ln>
        </p:spPr>
      </p:pic>
      <p:cxnSp>
        <p:nvCxnSpPr>
          <p:cNvPr id="135" name="Google Shape;135;gdfd45110a4_0_69"/>
          <p:cNvCxnSpPr/>
          <p:nvPr/>
        </p:nvCxnSpPr>
        <p:spPr>
          <a:xfrm flipH="1" rot="10800000">
            <a:off x="2130875" y="2039175"/>
            <a:ext cx="1451100" cy="633600"/>
          </a:xfrm>
          <a:prstGeom prst="straightConnector1">
            <a:avLst/>
          </a:prstGeom>
          <a:noFill/>
          <a:ln cap="flat" cmpd="sng" w="76200">
            <a:solidFill>
              <a:schemeClr val="dk2"/>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dfd45110a4_0_105"/>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rPr lang="en-US"/>
              <a:t>Campos Entrada</a:t>
            </a:r>
            <a:endParaRPr/>
          </a:p>
        </p:txBody>
      </p:sp>
      <p:sp>
        <p:nvSpPr>
          <p:cNvPr id="141" name="Google Shape;141;gdfd45110a4_0_105"/>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2" name="Google Shape;142;gdfd45110a4_0_105"/>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143" name="Google Shape;143;gdfd45110a4_0_105"/>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200"/>
              </a:spcBef>
              <a:spcAft>
                <a:spcPts val="1200"/>
              </a:spcAft>
              <a:buNone/>
            </a:pPr>
            <a:r>
              <a:t/>
            </a:r>
            <a:endParaRPr/>
          </a:p>
        </p:txBody>
      </p:sp>
      <p:pic>
        <p:nvPicPr>
          <p:cNvPr id="144" name="Google Shape;144;gdfd45110a4_0_105"/>
          <p:cNvPicPr preferRelativeResize="0"/>
          <p:nvPr/>
        </p:nvPicPr>
        <p:blipFill>
          <a:blip r:embed="rId4">
            <a:alphaModFix/>
          </a:blip>
          <a:stretch>
            <a:fillRect/>
          </a:stretch>
        </p:blipFill>
        <p:spPr>
          <a:xfrm>
            <a:off x="1346425" y="1882025"/>
            <a:ext cx="5621883" cy="62156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dfd45110a4_0_98"/>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rPr lang="en-US"/>
              <a:t>Campos Salida</a:t>
            </a:r>
            <a:endParaRPr/>
          </a:p>
        </p:txBody>
      </p:sp>
      <p:sp>
        <p:nvSpPr>
          <p:cNvPr id="150" name="Google Shape;150;gdfd45110a4_0_98"/>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1" name="Google Shape;151;gdfd45110a4_0_98"/>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152" name="Google Shape;152;gdfd45110a4_0_98"/>
          <p:cNvSpPr txBox="1"/>
          <p:nvPr/>
        </p:nvSpPr>
        <p:spPr>
          <a:xfrm>
            <a:off x="471600" y="1080091"/>
            <a:ext cx="6884100" cy="30000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200"/>
              </a:spcBef>
              <a:spcAft>
                <a:spcPts val="1200"/>
              </a:spcAft>
              <a:buNone/>
            </a:pPr>
            <a:r>
              <a:t/>
            </a:r>
            <a:endParaRPr/>
          </a:p>
        </p:txBody>
      </p:sp>
      <p:pic>
        <p:nvPicPr>
          <p:cNvPr id="153" name="Google Shape;153;gdfd45110a4_0_98"/>
          <p:cNvPicPr preferRelativeResize="0"/>
          <p:nvPr/>
        </p:nvPicPr>
        <p:blipFill>
          <a:blip r:embed="rId4">
            <a:alphaModFix/>
          </a:blip>
          <a:stretch>
            <a:fillRect/>
          </a:stretch>
        </p:blipFill>
        <p:spPr>
          <a:xfrm>
            <a:off x="304800" y="1957388"/>
            <a:ext cx="8534400" cy="13811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dfd45110a4_0_84"/>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rPr lang="en-US"/>
              <a:t>Campos Salida</a:t>
            </a:r>
            <a:endParaRPr/>
          </a:p>
        </p:txBody>
      </p:sp>
      <p:sp>
        <p:nvSpPr>
          <p:cNvPr id="159" name="Google Shape;159;gdfd45110a4_0_84"/>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0" name="Google Shape;160;gdfd45110a4_0_84"/>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161" name="Google Shape;161;gdfd45110a4_0_84"/>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200"/>
              </a:spcBef>
              <a:spcAft>
                <a:spcPts val="1200"/>
              </a:spcAft>
              <a:buNone/>
            </a:pPr>
            <a:r>
              <a:t/>
            </a:r>
            <a:endParaRPr/>
          </a:p>
        </p:txBody>
      </p:sp>
      <p:pic>
        <p:nvPicPr>
          <p:cNvPr id="162" name="Google Shape;162;gdfd45110a4_0_84"/>
          <p:cNvPicPr preferRelativeResize="0"/>
          <p:nvPr/>
        </p:nvPicPr>
        <p:blipFill>
          <a:blip r:embed="rId4">
            <a:alphaModFix/>
          </a:blip>
          <a:stretch>
            <a:fillRect/>
          </a:stretch>
        </p:blipFill>
        <p:spPr>
          <a:xfrm>
            <a:off x="338138" y="1433513"/>
            <a:ext cx="8467725" cy="2276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dfd45110a4_0_91"/>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rPr lang="en-US"/>
              <a:t>Campos Salida</a:t>
            </a:r>
            <a:endParaRPr/>
          </a:p>
        </p:txBody>
      </p:sp>
      <p:sp>
        <p:nvSpPr>
          <p:cNvPr id="168" name="Google Shape;168;gdfd45110a4_0_91"/>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9" name="Google Shape;169;gdfd45110a4_0_91"/>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170" name="Google Shape;170;gdfd45110a4_0_91"/>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200"/>
              </a:spcBef>
              <a:spcAft>
                <a:spcPts val="1200"/>
              </a:spcAft>
              <a:buNone/>
            </a:pPr>
            <a:r>
              <a:t/>
            </a:r>
            <a:endParaRPr/>
          </a:p>
        </p:txBody>
      </p:sp>
      <p:pic>
        <p:nvPicPr>
          <p:cNvPr id="171" name="Google Shape;171;gdfd45110a4_0_91"/>
          <p:cNvPicPr preferRelativeResize="0"/>
          <p:nvPr/>
        </p:nvPicPr>
        <p:blipFill>
          <a:blip r:embed="rId4">
            <a:alphaModFix/>
          </a:blip>
          <a:stretch>
            <a:fillRect/>
          </a:stretch>
        </p:blipFill>
        <p:spPr>
          <a:xfrm>
            <a:off x="1209675" y="1857375"/>
            <a:ext cx="6724650" cy="14287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dfd45110a4_0_112"/>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rPr lang="en-US"/>
              <a:t>Campos Salida</a:t>
            </a:r>
            <a:endParaRPr/>
          </a:p>
        </p:txBody>
      </p:sp>
      <p:sp>
        <p:nvSpPr>
          <p:cNvPr id="177" name="Google Shape;177;gdfd45110a4_0_112"/>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8" name="Google Shape;178;gdfd45110a4_0_112"/>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179" name="Google Shape;179;gdfd45110a4_0_112"/>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200"/>
              </a:spcBef>
              <a:spcAft>
                <a:spcPts val="1200"/>
              </a:spcAft>
              <a:buNone/>
            </a:pPr>
            <a:r>
              <a:t/>
            </a:r>
            <a:endParaRPr/>
          </a:p>
        </p:txBody>
      </p:sp>
      <p:pic>
        <p:nvPicPr>
          <p:cNvPr id="180" name="Google Shape;180;gdfd45110a4_0_112"/>
          <p:cNvPicPr preferRelativeResize="0"/>
          <p:nvPr/>
        </p:nvPicPr>
        <p:blipFill>
          <a:blip r:embed="rId4">
            <a:alphaModFix/>
          </a:blip>
          <a:stretch>
            <a:fillRect/>
          </a:stretch>
        </p:blipFill>
        <p:spPr>
          <a:xfrm>
            <a:off x="1824050" y="2359625"/>
            <a:ext cx="3381375" cy="5143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dfd45110a4_0_119"/>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2000"/>
              <a:buFont typeface="Arial"/>
              <a:buNone/>
            </a:pPr>
            <a:r>
              <a:rPr lang="en-US"/>
              <a:t>Procesos de ejecución de una TX</a:t>
            </a:r>
            <a:endParaRPr/>
          </a:p>
        </p:txBody>
      </p:sp>
      <p:sp>
        <p:nvSpPr>
          <p:cNvPr id="186" name="Google Shape;186;gdfd45110a4_0_119"/>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7" name="Google Shape;187;gdfd45110a4_0_119"/>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188" name="Google Shape;188;gdfd45110a4_0_119"/>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1100"/>
              <a:t>Es un identificador único para la transacción </a:t>
            </a:r>
            <a:endParaRPr b="1" sz="1100"/>
          </a:p>
          <a:p>
            <a:pPr indent="0" lvl="0" marL="0" rtl="0" algn="l">
              <a:lnSpc>
                <a:spcPct val="115000"/>
              </a:lnSpc>
              <a:spcBef>
                <a:spcPts val="1200"/>
              </a:spcBef>
              <a:spcAft>
                <a:spcPts val="0"/>
              </a:spcAft>
              <a:buNone/>
            </a:pPr>
            <a:r>
              <a:rPr b="1" lang="en-US" sz="1100"/>
              <a:t>Se valida si los encabezados de la solicitud</a:t>
            </a:r>
            <a:r>
              <a:rPr lang="en-US" sz="1100"/>
              <a:t> están bien formateados de acuerdo con el protocolo lógico definido por Arquitectura. </a:t>
            </a:r>
            <a:endParaRPr sz="1100"/>
          </a:p>
          <a:p>
            <a:pPr indent="0" lvl="0" marL="0" rtl="0" algn="l">
              <a:lnSpc>
                <a:spcPct val="115000"/>
              </a:lnSpc>
              <a:spcBef>
                <a:spcPts val="1200"/>
              </a:spcBef>
              <a:spcAft>
                <a:spcPts val="0"/>
              </a:spcAft>
              <a:buNone/>
            </a:pPr>
            <a:r>
              <a:rPr b="1" lang="en-US" sz="1100"/>
              <a:t>Si todo está bien, la arquitectura APX ejecuta las acciones previas</a:t>
            </a:r>
            <a:r>
              <a:rPr lang="en-US" sz="1100"/>
              <a:t>, que básicamente en este punto escribe el log de ejecución.</a:t>
            </a:r>
            <a:endParaRPr sz="1100"/>
          </a:p>
          <a:p>
            <a:pPr indent="0" lvl="0" marL="0" rtl="0" algn="l">
              <a:lnSpc>
                <a:spcPct val="115000"/>
              </a:lnSpc>
              <a:spcBef>
                <a:spcPts val="1200"/>
              </a:spcBef>
              <a:spcAft>
                <a:spcPts val="0"/>
              </a:spcAft>
              <a:buNone/>
            </a:pPr>
            <a:r>
              <a:rPr lang="en-US" sz="1100"/>
              <a:t>En este punto continúa la ejecución en el código que implementa la aplicación para la transacción ejecutando su lógica de negocios</a:t>
            </a:r>
            <a:endParaRPr sz="1100"/>
          </a:p>
          <a:p>
            <a:pPr indent="0" lvl="0" marL="0" rtl="0" algn="l">
              <a:lnSpc>
                <a:spcPct val="115000"/>
              </a:lnSpc>
              <a:spcBef>
                <a:spcPts val="1200"/>
              </a:spcBef>
              <a:spcAft>
                <a:spcPts val="0"/>
              </a:spcAft>
              <a:buNone/>
            </a:pPr>
            <a:r>
              <a:rPr lang="en-US" sz="1100"/>
              <a:t>Una vez que finaliza la transacción de la aplicación, las ejecuciones de la pila vuelven a la capa de Arquitectura de control para ejecutar las acciones posteriores.</a:t>
            </a:r>
            <a:endParaRPr sz="1100"/>
          </a:p>
          <a:p>
            <a:pPr indent="0" lvl="0" marL="0" rtl="0" algn="l">
              <a:lnSpc>
                <a:spcPct val="115000"/>
              </a:lnSpc>
              <a:spcBef>
                <a:spcPts val="1200"/>
              </a:spcBef>
              <a:spcAft>
                <a:spcPts val="0"/>
              </a:spcAft>
              <a:buNone/>
            </a:pPr>
            <a:r>
              <a:rPr lang="en-US" sz="1100"/>
              <a:t>Estas están compuestos por los siguientes pasos:</a:t>
            </a:r>
            <a:endParaRPr sz="1100"/>
          </a:p>
          <a:p>
            <a:pPr indent="0" lvl="0" marL="0" rtl="0" algn="l">
              <a:lnSpc>
                <a:spcPct val="115000"/>
              </a:lnSpc>
              <a:spcBef>
                <a:spcPts val="1200"/>
              </a:spcBef>
              <a:spcAft>
                <a:spcPts val="0"/>
              </a:spcAft>
              <a:buNone/>
            </a:pPr>
            <a:r>
              <a:t/>
            </a:r>
            <a:endParaRPr sz="1100"/>
          </a:p>
          <a:p>
            <a:pPr indent="0" lvl="0" marL="457200" rtl="0" algn="l">
              <a:lnSpc>
                <a:spcPct val="115000"/>
              </a:lnSpc>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dfd45110a4_0_126"/>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rPr lang="en-US"/>
              <a:t>Procesos de </a:t>
            </a:r>
            <a:r>
              <a:rPr lang="en-US"/>
              <a:t>ejecución</a:t>
            </a:r>
            <a:r>
              <a:rPr lang="en-US"/>
              <a:t> de una TX</a:t>
            </a:r>
            <a:endParaRPr/>
          </a:p>
        </p:txBody>
      </p:sp>
      <p:sp>
        <p:nvSpPr>
          <p:cNvPr id="194" name="Google Shape;194;gdfd45110a4_0_126"/>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5" name="Google Shape;195;gdfd45110a4_0_126"/>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196" name="Google Shape;196;gdfd45110a4_0_126"/>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1100"/>
              <a:t>Validación del código de salida</a:t>
            </a:r>
            <a:r>
              <a:rPr lang="en-US" sz="1100"/>
              <a:t>: Arquitectura recupera el código de salida de la ejecución y si se ha producido un error obtiene el literal asociado.</a:t>
            </a:r>
            <a:endParaRPr sz="1100"/>
          </a:p>
          <a:p>
            <a:pPr indent="0" lvl="0" marL="0" rtl="0" algn="l">
              <a:lnSpc>
                <a:spcPct val="115000"/>
              </a:lnSpc>
              <a:spcBef>
                <a:spcPts val="1200"/>
              </a:spcBef>
              <a:spcAft>
                <a:spcPts val="1200"/>
              </a:spcAft>
              <a:buNone/>
            </a:pPr>
            <a:r>
              <a:rPr b="1" lang="en-US" sz="1100"/>
              <a:t>Control de compromiso</a:t>
            </a:r>
            <a:r>
              <a:rPr lang="en-US" sz="1100"/>
              <a:t>: la arquitectura controla el compromiso o la reversión con DB según el código de salida de la transacción.</a:t>
            </a:r>
            <a:endParaRPr sz="11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dfd45110a4_0_133"/>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2000"/>
              <a:buFont typeface="Arial"/>
              <a:buNone/>
            </a:pPr>
            <a:r>
              <a:rPr lang="en-US"/>
              <a:t>Procesos de ejecución de una TX</a:t>
            </a:r>
            <a:endParaRPr/>
          </a:p>
        </p:txBody>
      </p:sp>
      <p:sp>
        <p:nvSpPr>
          <p:cNvPr id="202" name="Google Shape;202;gdfd45110a4_0_133"/>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3" name="Google Shape;203;gdfd45110a4_0_133"/>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204" name="Google Shape;204;gdfd45110a4_0_133"/>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1100"/>
              <a:t>Escritura ROP</a:t>
            </a:r>
            <a:r>
              <a:rPr lang="en-US" sz="1100"/>
              <a:t>. Para cada transacción ejecutada, APX la registra en un LOG interno utilizado con fines de Auditoría, Fraude o Informativo que indica que la transacción ha finalizado. Se llama ROP (Registro de operaciones). Esta escritura se invoca de forma asincrónica.</a:t>
            </a:r>
            <a:endParaRPr sz="1100"/>
          </a:p>
          <a:p>
            <a:pPr indent="0" lvl="0" marL="0" rtl="0" algn="l">
              <a:lnSpc>
                <a:spcPct val="115000"/>
              </a:lnSpc>
              <a:spcBef>
                <a:spcPts val="1200"/>
              </a:spcBef>
              <a:spcAft>
                <a:spcPts val="0"/>
              </a:spcAft>
              <a:buNone/>
            </a:pPr>
            <a:r>
              <a:rPr b="1" lang="en-US" sz="1100"/>
              <a:t>Notificación de evento comercial</a:t>
            </a:r>
            <a:r>
              <a:rPr lang="en-US" sz="1100"/>
              <a:t>: se envía un evento con datos comerciales cuando finaliza la transacción si está marcado para hacerlo. Además, este punto se ejecuta de forma asincrónica.</a:t>
            </a:r>
            <a:endParaRPr sz="1100"/>
          </a:p>
          <a:p>
            <a:pPr indent="0" lvl="0" marL="0" rtl="0" algn="l">
              <a:lnSpc>
                <a:spcPct val="115000"/>
              </a:lnSpc>
              <a:spcBef>
                <a:spcPts val="1200"/>
              </a:spcBef>
              <a:spcAft>
                <a:spcPts val="1200"/>
              </a:spcAft>
              <a:buNone/>
            </a:pPr>
            <a:r>
              <a:rPr b="1" lang="en-US" sz="1100"/>
              <a:t>Monitorización</a:t>
            </a:r>
            <a:r>
              <a:rPr lang="en-US" sz="1100"/>
              <a:t>: Durante la ejecución de la transacción APX se recopila toda la información de monitorización en cada paso de la lógica implementada por la aplicación. En este punto la Arquitectura lo envía a nuestro Monitoreo de forma asincrónica.</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e1c8f31a7b_0_0"/>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1200">
                <a:solidFill>
                  <a:srgbClr val="000000"/>
                </a:solidFill>
              </a:rPr>
              <a:t>Mejores </a:t>
            </a:r>
            <a:r>
              <a:rPr lang="en-US" sz="1200">
                <a:solidFill>
                  <a:srgbClr val="000000"/>
                </a:solidFill>
              </a:rPr>
              <a:t>Prácticas</a:t>
            </a:r>
            <a:r>
              <a:rPr lang="en-US" sz="1200">
                <a:solidFill>
                  <a:srgbClr val="000000"/>
                </a:solidFill>
              </a:rPr>
              <a:t> : Acceso a datos en APX Oracle</a:t>
            </a:r>
            <a:endParaRPr sz="1200">
              <a:solidFill>
                <a:srgbClr val="000000"/>
              </a:solidFill>
            </a:endParaRPr>
          </a:p>
          <a:p>
            <a:pPr indent="0" lvl="0" marL="0" rtl="0" algn="l">
              <a:spcBef>
                <a:spcPts val="1200"/>
              </a:spcBef>
              <a:spcAft>
                <a:spcPts val="0"/>
              </a:spcAft>
              <a:buClr>
                <a:schemeClr val="accent4"/>
              </a:buClr>
              <a:buSzPts val="2000"/>
              <a:buFont typeface="Arial"/>
              <a:buNone/>
            </a:pPr>
            <a:r>
              <a:t/>
            </a:r>
            <a:endParaRPr/>
          </a:p>
        </p:txBody>
      </p:sp>
      <p:sp>
        <p:nvSpPr>
          <p:cNvPr id="210" name="Google Shape;210;ge1c8f31a7b_0_0"/>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1" name="Google Shape;211;ge1c8f31a7b_0_0"/>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212" name="Google Shape;212;ge1c8f31a7b_0_0"/>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Char char="●"/>
            </a:pPr>
            <a:r>
              <a:rPr lang="en-US" sz="1100"/>
              <a:t>El </a:t>
            </a:r>
            <a:r>
              <a:rPr b="1" lang="en-US" sz="1100"/>
              <a:t>acceso a los dato</a:t>
            </a:r>
            <a:r>
              <a:rPr lang="en-US" sz="1100"/>
              <a:t>s se realiza exclusivamente </a:t>
            </a:r>
            <a:r>
              <a:rPr b="1" lang="en-US" sz="1100"/>
              <a:t>desde bibliotecas APX</a:t>
            </a:r>
            <a:r>
              <a:rPr lang="en-US" sz="1100"/>
              <a:t> en el caso de online</a:t>
            </a:r>
            <a:endParaRPr sz="1100"/>
          </a:p>
          <a:p>
            <a:pPr indent="-298450" lvl="0" marL="457200" rtl="0" algn="l">
              <a:lnSpc>
                <a:spcPct val="115000"/>
              </a:lnSpc>
              <a:spcBef>
                <a:spcPts val="0"/>
              </a:spcBef>
              <a:spcAft>
                <a:spcPts val="0"/>
              </a:spcAft>
              <a:buSzPts val="1100"/>
              <a:buChar char="●"/>
            </a:pPr>
            <a:r>
              <a:rPr lang="en-US" sz="700">
                <a:latin typeface="Times New Roman"/>
                <a:ea typeface="Times New Roman"/>
                <a:cs typeface="Times New Roman"/>
                <a:sym typeface="Times New Roman"/>
              </a:rPr>
              <a:t> </a:t>
            </a:r>
            <a:r>
              <a:rPr lang="en-US" sz="1100"/>
              <a:t>Asimismo, una </a:t>
            </a:r>
            <a:r>
              <a:rPr b="1" lang="en-US" sz="1100"/>
              <a:t>UUAA solo puede acceder a los datos que posee</a:t>
            </a:r>
            <a:r>
              <a:rPr lang="en-US" sz="1100"/>
              <a:t> y a los datos de terceros a través de las bibliotecas APX que proporciona el titular de los datos.</a:t>
            </a:r>
            <a:endParaRPr sz="1100"/>
          </a:p>
          <a:p>
            <a:pPr indent="-298450" lvl="0" marL="457200" rtl="0" algn="l">
              <a:lnSpc>
                <a:spcPct val="115000"/>
              </a:lnSpc>
              <a:spcBef>
                <a:spcPts val="0"/>
              </a:spcBef>
              <a:spcAft>
                <a:spcPts val="0"/>
              </a:spcAft>
              <a:buSzPts val="1100"/>
              <a:buChar char="●"/>
            </a:pPr>
            <a:r>
              <a:rPr lang="en-US" sz="700">
                <a:latin typeface="Times New Roman"/>
                <a:ea typeface="Times New Roman"/>
                <a:cs typeface="Times New Roman"/>
                <a:sym typeface="Times New Roman"/>
              </a:rPr>
              <a:t> </a:t>
            </a:r>
            <a:r>
              <a:rPr lang="en-US" sz="1100"/>
              <a:t>El acceso a los datos debe realizarse utilizando las utilidades que Architecture proporciona desde el asistente de biblioteca: En el caso de bases de datos relacionales, se debe usar </a:t>
            </a:r>
            <a:r>
              <a:rPr b="1" lang="en-US" sz="1100"/>
              <a:t>JDBC</a:t>
            </a:r>
            <a:r>
              <a:rPr lang="en-US" sz="1100"/>
              <a:t>.</a:t>
            </a:r>
            <a:endParaRPr sz="1100"/>
          </a:p>
          <a:p>
            <a:pPr indent="-298450" lvl="0" marL="457200" rtl="0" algn="l">
              <a:lnSpc>
                <a:spcPct val="115000"/>
              </a:lnSpc>
              <a:spcBef>
                <a:spcPts val="0"/>
              </a:spcBef>
              <a:spcAft>
                <a:spcPts val="0"/>
              </a:spcAft>
              <a:buClr>
                <a:srgbClr val="FF0000"/>
              </a:buClr>
              <a:buSzPts val="1100"/>
              <a:buChar char="●"/>
            </a:pPr>
            <a:r>
              <a:rPr b="1" lang="en-US" sz="1100">
                <a:solidFill>
                  <a:srgbClr val="FF0000"/>
                </a:solidFill>
              </a:rPr>
              <a:t>JPA le permite realizar un almacenamiento en caché</a:t>
            </a:r>
            <a:r>
              <a:rPr lang="en-US" sz="1100">
                <a:solidFill>
                  <a:srgbClr val="FF0000"/>
                </a:solidFill>
              </a:rPr>
              <a:t> en el primer y segundo nivel de las tablas de base de datos a las que accede. Esto, desde APX </a:t>
            </a:r>
            <a:r>
              <a:rPr b="1" lang="en-US" sz="1100">
                <a:solidFill>
                  <a:srgbClr val="FF0000"/>
                </a:solidFill>
              </a:rPr>
              <a:t>puede resultar</a:t>
            </a:r>
            <a:r>
              <a:rPr lang="en-US" sz="1100">
                <a:solidFill>
                  <a:srgbClr val="FF0000"/>
                </a:solidFill>
              </a:rPr>
              <a:t> </a:t>
            </a:r>
            <a:r>
              <a:rPr b="1" lang="en-US" sz="1100">
                <a:solidFill>
                  <a:srgbClr val="FF0000"/>
                </a:solidFill>
              </a:rPr>
              <a:t>peligroso</a:t>
            </a:r>
            <a:r>
              <a:rPr lang="en-US" sz="1100">
                <a:solidFill>
                  <a:srgbClr val="FF0000"/>
                </a:solidFill>
              </a:rPr>
              <a:t> porque si desde un sistema externo se accede a la tabla, no se actualizará la caché y en las próximas solicitudes se recuperará el valor de dicha caché (que no se sincronizará con el valor real). </a:t>
            </a:r>
            <a:endParaRPr sz="1100">
              <a:solidFill>
                <a:srgbClr val="FF0000"/>
              </a:solidFill>
            </a:endParaRPr>
          </a:p>
          <a:p>
            <a:pPr indent="-298450" lvl="0" marL="457200" rtl="0" algn="l">
              <a:lnSpc>
                <a:spcPct val="115000"/>
              </a:lnSpc>
              <a:spcBef>
                <a:spcPts val="0"/>
              </a:spcBef>
              <a:spcAft>
                <a:spcPts val="0"/>
              </a:spcAft>
              <a:buClr>
                <a:schemeClr val="lt2"/>
              </a:buClr>
              <a:buSzPts val="1100"/>
              <a:buChar char="●"/>
            </a:pPr>
            <a:r>
              <a:rPr lang="en-US" sz="700">
                <a:latin typeface="Times New Roman"/>
                <a:ea typeface="Times New Roman"/>
                <a:cs typeface="Times New Roman"/>
                <a:sym typeface="Times New Roman"/>
              </a:rPr>
              <a:t> </a:t>
            </a:r>
            <a:r>
              <a:rPr lang="en-US" sz="1100"/>
              <a:t>El </a:t>
            </a:r>
            <a:r>
              <a:rPr b="1" lang="en-US" sz="1100"/>
              <a:t>objeto de origen de datos no debe manejarse directamente</a:t>
            </a:r>
            <a:r>
              <a:rPr lang="en-US" sz="1100"/>
              <a:t>. No debe crear instancias, abrir o cerrar explícitamente conexiones a la base de datos.</a:t>
            </a:r>
            <a:endParaRPr sz="1100"/>
          </a:p>
          <a:p>
            <a:pPr indent="-298450" lvl="0" marL="457200" rtl="0" algn="l">
              <a:lnSpc>
                <a:spcPct val="115000"/>
              </a:lnSpc>
              <a:spcBef>
                <a:spcPts val="0"/>
              </a:spcBef>
              <a:spcAft>
                <a:spcPts val="0"/>
              </a:spcAft>
              <a:buClr>
                <a:schemeClr val="lt2"/>
              </a:buClr>
              <a:buSzPts val="1100"/>
              <a:buChar char="●"/>
            </a:pPr>
            <a:r>
              <a:rPr b="1" lang="en-US" sz="1100"/>
              <a:t>SIEMPRE agregue el nombre del esquema</a:t>
            </a:r>
            <a:r>
              <a:rPr lang="en-US" sz="1100"/>
              <a:t> de base de datos a las tablas en las que se realizan las consultas.</a:t>
            </a:r>
            <a:endParaRPr sz="1100"/>
          </a:p>
          <a:p>
            <a:pPr indent="-298450" lvl="0" marL="457200" rtl="0" algn="l">
              <a:lnSpc>
                <a:spcPct val="115000"/>
              </a:lnSpc>
              <a:spcBef>
                <a:spcPts val="0"/>
              </a:spcBef>
              <a:spcAft>
                <a:spcPts val="0"/>
              </a:spcAft>
              <a:buClr>
                <a:schemeClr val="lt2"/>
              </a:buClr>
              <a:buSzPts val="1100"/>
              <a:buChar char="●"/>
            </a:pPr>
            <a:r>
              <a:rPr lang="en-US" sz="1100"/>
              <a:t>En las consultas a BBDD se deben </a:t>
            </a:r>
            <a:r>
              <a:rPr b="1" lang="en-US" sz="1100"/>
              <a:t>utilizar variables BIND</a:t>
            </a:r>
            <a:r>
              <a:rPr lang="en-US" sz="1100"/>
              <a:t> para no afectar el rendimiento de la base de datos.</a:t>
            </a:r>
            <a:endParaRPr sz="1100"/>
          </a:p>
          <a:p>
            <a:pPr indent="0" lvl="0" marL="457200" rtl="0" algn="l">
              <a:lnSpc>
                <a:spcPct val="115000"/>
              </a:lnSpc>
              <a:spcBef>
                <a:spcPts val="1200"/>
              </a:spcBef>
              <a:spcAft>
                <a:spcPts val="1200"/>
              </a:spcAft>
              <a:buNone/>
            </a:pPr>
            <a:r>
              <a:t/>
            </a:r>
            <a:endParaRPr sz="1100">
              <a:solidFill>
                <a:schemeClr val="lt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e1c8f31a7b_0_7"/>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1200"/>
              </a:spcAft>
              <a:buNone/>
            </a:pPr>
            <a:r>
              <a:rPr lang="en-US" sz="1200">
                <a:solidFill>
                  <a:srgbClr val="000000"/>
                </a:solidFill>
              </a:rPr>
              <a:t>Mejores Prácticas : Acceso a datos en APX Oracle</a:t>
            </a:r>
            <a:endParaRPr/>
          </a:p>
        </p:txBody>
      </p:sp>
      <p:sp>
        <p:nvSpPr>
          <p:cNvPr id="218" name="Google Shape;218;ge1c8f31a7b_0_7"/>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9" name="Google Shape;219;ge1c8f31a7b_0_7"/>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220" name="Google Shape;220;ge1c8f31a7b_0_7"/>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Char char="●"/>
            </a:pPr>
            <a:r>
              <a:rPr lang="en-US" sz="1100"/>
              <a:t>Architecture APX está listo para trabajar </a:t>
            </a:r>
            <a:r>
              <a:rPr b="1" lang="en-US" sz="1100"/>
              <a:t>con una base de datos Oracle o PostgreSQL</a:t>
            </a:r>
            <a:r>
              <a:rPr lang="en-US" sz="1100"/>
              <a:t>. Para esto es obligatorio que tanto la arquitectura como las aplicaciones </a:t>
            </a:r>
            <a:r>
              <a:rPr b="1" lang="en-US" sz="1100"/>
              <a:t>NO utilicen sentencias que incluyan atributos o acciones específicas </a:t>
            </a:r>
            <a:r>
              <a:rPr lang="en-US" sz="1100"/>
              <a:t>de un administrador de base de datos en particular, por ejemplo: </a:t>
            </a:r>
            <a:endParaRPr sz="1100"/>
          </a:p>
          <a:p>
            <a:pPr indent="0" lvl="0" marL="457200" rtl="0" algn="l">
              <a:lnSpc>
                <a:spcPct val="115000"/>
              </a:lnSpc>
              <a:spcBef>
                <a:spcPts val="1200"/>
              </a:spcBef>
              <a:spcAft>
                <a:spcPts val="0"/>
              </a:spcAft>
              <a:buNone/>
            </a:pPr>
            <a:r>
              <a:rPr lang="en-US" sz="1100"/>
              <a:t>ROWNUM </a:t>
            </a:r>
            <a:endParaRPr sz="1100"/>
          </a:p>
          <a:p>
            <a:pPr indent="-228600" lvl="0" marL="0" rtl="0" algn="l">
              <a:lnSpc>
                <a:spcPct val="115000"/>
              </a:lnSpc>
              <a:spcBef>
                <a:spcPts val="1200"/>
              </a:spcBef>
              <a:spcAft>
                <a:spcPts val="0"/>
              </a:spcAft>
              <a:buNone/>
            </a:pPr>
            <a:r>
              <a:rPr lang="en-US" sz="1100"/>
              <a:t>·</a:t>
            </a:r>
            <a:r>
              <a:rPr lang="en-US" sz="700">
                <a:latin typeface="Times New Roman"/>
                <a:ea typeface="Times New Roman"/>
                <a:cs typeface="Times New Roman"/>
                <a:sym typeface="Times New Roman"/>
              </a:rPr>
              <a:t>        		</a:t>
            </a:r>
            <a:r>
              <a:rPr lang="en-US" sz="1100"/>
              <a:t>que es típico de Oracle y PostgreSQL puede no interpretar.</a:t>
            </a:r>
            <a:endParaRPr sz="1100"/>
          </a:p>
          <a:p>
            <a:pPr indent="0" lvl="0" marL="457200" rtl="0" algn="l">
              <a:lnSpc>
                <a:spcPct val="115000"/>
              </a:lnSpc>
              <a:spcBef>
                <a:spcPts val="1200"/>
              </a:spcBef>
              <a:spcAft>
                <a:spcPts val="1200"/>
              </a:spcAft>
              <a:buNone/>
            </a:pPr>
            <a:r>
              <a:t/>
            </a:r>
            <a:endParaRPr sz="11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e1c8f31a7b_0_14"/>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1600">
                <a:solidFill>
                  <a:srgbClr val="000000"/>
                </a:solidFill>
              </a:rPr>
              <a:t>Manejo de excepciones</a:t>
            </a:r>
            <a:endParaRPr sz="1600">
              <a:solidFill>
                <a:srgbClr val="000000"/>
              </a:solidFill>
            </a:endParaRPr>
          </a:p>
          <a:p>
            <a:pPr indent="0" lvl="0" marL="0" rtl="0" algn="l">
              <a:spcBef>
                <a:spcPts val="1200"/>
              </a:spcBef>
              <a:spcAft>
                <a:spcPts val="0"/>
              </a:spcAft>
              <a:buClr>
                <a:schemeClr val="accent4"/>
              </a:buClr>
              <a:buSzPts val="2000"/>
              <a:buFont typeface="Arial"/>
              <a:buNone/>
            </a:pPr>
            <a:r>
              <a:t/>
            </a:r>
            <a:endParaRPr/>
          </a:p>
        </p:txBody>
      </p:sp>
      <p:sp>
        <p:nvSpPr>
          <p:cNvPr id="226" name="Google Shape;226;ge1c8f31a7b_0_14"/>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7" name="Google Shape;227;ge1c8f31a7b_0_14"/>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228" name="Google Shape;228;ge1c8f31a7b_0_14"/>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228600" lvl="0" marL="0" rtl="0" algn="l">
              <a:lnSpc>
                <a:spcPct val="115000"/>
              </a:lnSpc>
              <a:spcBef>
                <a:spcPts val="1200"/>
              </a:spcBef>
              <a:spcAft>
                <a:spcPts val="0"/>
              </a:spcAft>
              <a:buNone/>
            </a:pPr>
            <a:r>
              <a:rPr lang="en-US" sz="1100"/>
              <a:t>·</a:t>
            </a:r>
            <a:r>
              <a:rPr lang="en-US" sz="700">
                <a:latin typeface="Times New Roman"/>
                <a:ea typeface="Times New Roman"/>
                <a:cs typeface="Times New Roman"/>
                <a:sym typeface="Times New Roman"/>
              </a:rPr>
              <a:t>        </a:t>
            </a:r>
            <a:r>
              <a:rPr lang="en-US" sz="1100"/>
              <a:t>El código de la aplicación no puede manejar las excepciones lanzadas por los conectores proporcionados por APX, por los productos invocados por terceros, </a:t>
            </a:r>
            <a:r>
              <a:rPr b="1" lang="en-US" sz="1100"/>
              <a:t>ni ninguna excepción que herede de RuntimeException.</a:t>
            </a:r>
            <a:endParaRPr b="1" sz="1100"/>
          </a:p>
          <a:p>
            <a:pPr indent="-228600" lvl="0" marL="0" rtl="0" algn="l">
              <a:lnSpc>
                <a:spcPct val="115000"/>
              </a:lnSpc>
              <a:spcBef>
                <a:spcPts val="1200"/>
              </a:spcBef>
              <a:spcAft>
                <a:spcPts val="0"/>
              </a:spcAft>
              <a:buNone/>
            </a:pPr>
            <a:r>
              <a:rPr lang="en-US" sz="1100"/>
              <a:t>·</a:t>
            </a:r>
            <a:r>
              <a:rPr lang="en-US" sz="700">
                <a:latin typeface="Times New Roman"/>
                <a:ea typeface="Times New Roman"/>
                <a:cs typeface="Times New Roman"/>
                <a:sym typeface="Times New Roman"/>
              </a:rPr>
              <a:t>        </a:t>
            </a:r>
            <a:r>
              <a:rPr lang="en-US" sz="1100"/>
              <a:t>Por lo tanto, </a:t>
            </a:r>
            <a:r>
              <a:rPr b="1" lang="en-US" sz="1100"/>
              <a:t>el código try ... catch (Exception exc) no está permitido.</a:t>
            </a:r>
            <a:endParaRPr b="1" sz="1100"/>
          </a:p>
          <a:p>
            <a:pPr indent="-228600" lvl="0" marL="0" rtl="0" algn="l">
              <a:lnSpc>
                <a:spcPct val="115000"/>
              </a:lnSpc>
              <a:spcBef>
                <a:spcPts val="1200"/>
              </a:spcBef>
              <a:spcAft>
                <a:spcPts val="0"/>
              </a:spcAft>
              <a:buNone/>
            </a:pPr>
            <a:r>
              <a:rPr lang="en-US" sz="1100"/>
              <a:t>·</a:t>
            </a:r>
            <a:r>
              <a:rPr lang="en-US" sz="700">
                <a:latin typeface="Times New Roman"/>
                <a:ea typeface="Times New Roman"/>
                <a:cs typeface="Times New Roman"/>
                <a:sym typeface="Times New Roman"/>
              </a:rPr>
              <a:t>        </a:t>
            </a:r>
            <a:r>
              <a:rPr lang="en-US" sz="1100"/>
              <a:t>Si ocurre una excepción, la Arquitectura la capturará y habilitará la gestión de errores. También será responsable de deshacer aquellos accesos donde exista transaccionalidad (Acceso a bases de datos, etc ...).</a:t>
            </a:r>
            <a:endParaRPr sz="11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e1c8f31a7b_0_21"/>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1600">
                <a:solidFill>
                  <a:srgbClr val="000000"/>
                </a:solidFill>
              </a:rPr>
              <a:t>Manejo de excepciones</a:t>
            </a:r>
            <a:endParaRPr sz="1600">
              <a:solidFill>
                <a:srgbClr val="000000"/>
              </a:solidFill>
            </a:endParaRPr>
          </a:p>
          <a:p>
            <a:pPr indent="0" lvl="0" marL="0" rtl="0" algn="l">
              <a:spcBef>
                <a:spcPts val="1200"/>
              </a:spcBef>
              <a:spcAft>
                <a:spcPts val="0"/>
              </a:spcAft>
              <a:buClr>
                <a:schemeClr val="accent4"/>
              </a:buClr>
              <a:buSzPts val="2000"/>
              <a:buFont typeface="Arial"/>
              <a:buNone/>
            </a:pPr>
            <a:r>
              <a:t/>
            </a:r>
            <a:endParaRPr/>
          </a:p>
        </p:txBody>
      </p:sp>
      <p:sp>
        <p:nvSpPr>
          <p:cNvPr id="234" name="Google Shape;234;ge1c8f31a7b_0_21"/>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5" name="Google Shape;235;ge1c8f31a7b_0_21"/>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236" name="Google Shape;236;ge1c8f31a7b_0_21"/>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1100"/>
              <a:t>Excepciones de la arquitectura APX:</a:t>
            </a:r>
            <a:endParaRPr sz="1100"/>
          </a:p>
          <a:p>
            <a:pPr indent="0" lvl="0" marL="0" rtl="0" algn="l">
              <a:lnSpc>
                <a:spcPct val="115000"/>
              </a:lnSpc>
              <a:spcBef>
                <a:spcPts val="1200"/>
              </a:spcBef>
              <a:spcAft>
                <a:spcPts val="0"/>
              </a:spcAft>
              <a:buNone/>
            </a:pPr>
            <a:r>
              <a:rPr b="1" lang="en-US" sz="1100"/>
              <a:t>com.bbva.apx.exception.business.BusinessException</a:t>
            </a:r>
            <a:endParaRPr b="1" sz="1100"/>
          </a:p>
          <a:p>
            <a:pPr indent="0" lvl="0" marL="0" rtl="0" algn="l">
              <a:lnSpc>
                <a:spcPct val="115000"/>
              </a:lnSpc>
              <a:spcBef>
                <a:spcPts val="1200"/>
              </a:spcBef>
              <a:spcAft>
                <a:spcPts val="0"/>
              </a:spcAft>
              <a:buNone/>
            </a:pPr>
            <a:r>
              <a:rPr b="1" lang="en-US" sz="1100"/>
              <a:t>com.bbva.apx.exception.io.network.TimeoutException</a:t>
            </a:r>
            <a:endParaRPr b="1" sz="1100"/>
          </a:p>
          <a:p>
            <a:pPr indent="0" lvl="0" marL="0" rtl="0" algn="l">
              <a:lnSpc>
                <a:spcPct val="115000"/>
              </a:lnSpc>
              <a:spcBef>
                <a:spcPts val="1200"/>
              </a:spcBef>
              <a:spcAft>
                <a:spcPts val="0"/>
              </a:spcAft>
              <a:buNone/>
            </a:pPr>
            <a:r>
              <a:rPr b="1" lang="en-US" sz="1100"/>
              <a:t>com.bbva.apx. exception.db.DuplicateKeyException</a:t>
            </a:r>
            <a:endParaRPr b="1" sz="1100"/>
          </a:p>
          <a:p>
            <a:pPr indent="0" lvl="0" marL="0" rtl="0" algn="l">
              <a:lnSpc>
                <a:spcPct val="115000"/>
              </a:lnSpc>
              <a:spcBef>
                <a:spcPts val="1200"/>
              </a:spcBef>
              <a:spcAft>
                <a:spcPts val="0"/>
              </a:spcAft>
              <a:buNone/>
            </a:pPr>
            <a:r>
              <a:rPr b="1" lang="en-US" sz="1100"/>
              <a:t>com.bbva.apx.exception.db.IncorrectResultSizeException</a:t>
            </a:r>
            <a:endParaRPr b="1" sz="1100"/>
          </a:p>
          <a:p>
            <a:pPr indent="0" lvl="0" marL="0" rtl="0" algn="l">
              <a:lnSpc>
                <a:spcPct val="115000"/>
              </a:lnSpc>
              <a:spcBef>
                <a:spcPts val="1200"/>
              </a:spcBef>
              <a:spcAft>
                <a:spcPts val="0"/>
              </a:spcAft>
              <a:buNone/>
            </a:pPr>
            <a:r>
              <a:rPr b="1" lang="en-US" sz="1100"/>
              <a:t>com.bbva.apx.exception.db.NoResultException</a:t>
            </a:r>
            <a:endParaRPr b="1" sz="1100"/>
          </a:p>
          <a:p>
            <a:pPr indent="0" lvl="0" marL="0" rtl="0" algn="l">
              <a:lnSpc>
                <a:spcPct val="115000"/>
              </a:lnSpc>
              <a:spcBef>
                <a:spcPts val="1200"/>
              </a:spcBef>
              <a:spcAft>
                <a:spcPts val="0"/>
              </a:spcAft>
              <a:buNone/>
            </a:pPr>
            <a:r>
              <a:rPr b="1" lang="en-US" sz="1100"/>
              <a:t>com.bbva.apx.exception.db.TimeoutException</a:t>
            </a:r>
            <a:endParaRPr b="1" sz="1100"/>
          </a:p>
          <a:p>
            <a:pPr indent="0" lvl="0" marL="0" rtl="0" algn="l">
              <a:lnSpc>
                <a:spcPct val="115000"/>
              </a:lnSpc>
              <a:spcBef>
                <a:spcPts val="1200"/>
              </a:spcBef>
              <a:spcAft>
                <a:spcPts val="0"/>
              </a:spcAft>
              <a:buNone/>
            </a:pPr>
            <a:r>
              <a:rPr b="1" lang="en-US" sz="1100"/>
              <a:t>com.bbva.elara.utility.interbackend.cics.exceptions.BusinessException</a:t>
            </a:r>
            <a:endParaRPr b="1" sz="11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e1c8f31a7b_0_28"/>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1600">
                <a:solidFill>
                  <a:srgbClr val="000000"/>
                </a:solidFill>
              </a:rPr>
              <a:t>Manejo de excepciones</a:t>
            </a:r>
            <a:endParaRPr sz="1600">
              <a:solidFill>
                <a:srgbClr val="000000"/>
              </a:solidFill>
            </a:endParaRPr>
          </a:p>
          <a:p>
            <a:pPr indent="0" lvl="0" marL="0" rtl="0" algn="l">
              <a:spcBef>
                <a:spcPts val="1200"/>
              </a:spcBef>
              <a:spcAft>
                <a:spcPts val="0"/>
              </a:spcAft>
              <a:buClr>
                <a:schemeClr val="accent4"/>
              </a:buClr>
              <a:buSzPts val="2000"/>
              <a:buFont typeface="Arial"/>
              <a:buNone/>
            </a:pPr>
            <a:r>
              <a:t/>
            </a:r>
            <a:endParaRPr/>
          </a:p>
        </p:txBody>
      </p:sp>
      <p:sp>
        <p:nvSpPr>
          <p:cNvPr id="242" name="Google Shape;242;ge1c8f31a7b_0_28"/>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3" name="Google Shape;243;ge1c8f31a7b_0_28"/>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244" name="Google Shape;244;ge1c8f31a7b_0_28"/>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1100"/>
              <a:t>Excepciones de Java:</a:t>
            </a:r>
            <a:endParaRPr sz="1100"/>
          </a:p>
          <a:p>
            <a:pPr indent="0" lvl="0" marL="0" rtl="0" algn="l">
              <a:lnSpc>
                <a:spcPct val="115000"/>
              </a:lnSpc>
              <a:spcBef>
                <a:spcPts val="1200"/>
              </a:spcBef>
              <a:spcAft>
                <a:spcPts val="0"/>
              </a:spcAft>
              <a:buNone/>
            </a:pPr>
            <a:r>
              <a:rPr b="1" lang="en-US" sz="1100"/>
              <a:t>java.lang.NumberFormatException</a:t>
            </a:r>
            <a:endParaRPr b="1" sz="1100"/>
          </a:p>
          <a:p>
            <a:pPr indent="0" lvl="0" marL="0" rtl="0" algn="l">
              <a:lnSpc>
                <a:spcPct val="115000"/>
              </a:lnSpc>
              <a:spcBef>
                <a:spcPts val="1200"/>
              </a:spcBef>
              <a:spcAft>
                <a:spcPts val="0"/>
              </a:spcAft>
              <a:buNone/>
            </a:pPr>
            <a:r>
              <a:rPr lang="en-US" sz="1100"/>
              <a:t>Excepciones de spring:</a:t>
            </a:r>
            <a:endParaRPr sz="1100"/>
          </a:p>
          <a:p>
            <a:pPr indent="0" lvl="0" marL="0" rtl="0" algn="l">
              <a:lnSpc>
                <a:spcPct val="115000"/>
              </a:lnSpc>
              <a:spcBef>
                <a:spcPts val="1200"/>
              </a:spcBef>
              <a:spcAft>
                <a:spcPts val="0"/>
              </a:spcAft>
              <a:buNone/>
            </a:pPr>
            <a:r>
              <a:rPr b="1" lang="en-US" sz="1100"/>
              <a:t>org.springframework.web.client.RestClientException</a:t>
            </a:r>
            <a:endParaRPr b="1" sz="1100"/>
          </a:p>
          <a:p>
            <a:pPr indent="0" lvl="0" marL="0" rtl="0" algn="l">
              <a:lnSpc>
                <a:spcPct val="115000"/>
              </a:lnSpc>
              <a:spcBef>
                <a:spcPts val="1200"/>
              </a:spcBef>
              <a:spcAft>
                <a:spcPts val="0"/>
              </a:spcAft>
              <a:buNone/>
            </a:pPr>
            <a:r>
              <a:rPr lang="en-US" sz="1100"/>
              <a:t>Excepciones de aplicación.</a:t>
            </a:r>
            <a:endParaRPr sz="11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e1c8f31a7b_0_35"/>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1600">
                <a:solidFill>
                  <a:srgbClr val="000000"/>
                </a:solidFill>
              </a:rPr>
              <a:t>Uso de DTO</a:t>
            </a:r>
            <a:endParaRPr sz="1600">
              <a:solidFill>
                <a:srgbClr val="000000"/>
              </a:solidFill>
            </a:endParaRPr>
          </a:p>
          <a:p>
            <a:pPr indent="0" lvl="0" marL="0" rtl="0" algn="l">
              <a:spcBef>
                <a:spcPts val="1200"/>
              </a:spcBef>
              <a:spcAft>
                <a:spcPts val="0"/>
              </a:spcAft>
              <a:buClr>
                <a:schemeClr val="accent4"/>
              </a:buClr>
              <a:buSzPts val="2000"/>
              <a:buFont typeface="Arial"/>
              <a:buNone/>
            </a:pPr>
            <a:r>
              <a:t/>
            </a:r>
            <a:endParaRPr sz="1600">
              <a:solidFill>
                <a:srgbClr val="000000"/>
              </a:solidFill>
            </a:endParaRPr>
          </a:p>
        </p:txBody>
      </p:sp>
      <p:sp>
        <p:nvSpPr>
          <p:cNvPr id="250" name="Google Shape;250;ge1c8f31a7b_0_35"/>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1" name="Google Shape;251;ge1c8f31a7b_0_35"/>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252" name="Google Shape;252;ge1c8f31a7b_0_35"/>
          <p:cNvSpPr txBox="1"/>
          <p:nvPr/>
        </p:nvSpPr>
        <p:spPr>
          <a:xfrm>
            <a:off x="330025" y="748716"/>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1100"/>
              <a:t>El uso de este patrón es obligatorio cuando:</a:t>
            </a:r>
            <a:endParaRPr sz="1100"/>
          </a:p>
          <a:p>
            <a:pPr indent="0" lvl="0" marL="0" rtl="0" algn="l">
              <a:lnSpc>
                <a:spcPct val="115000"/>
              </a:lnSpc>
              <a:spcBef>
                <a:spcPts val="1200"/>
              </a:spcBef>
              <a:spcAft>
                <a:spcPts val="0"/>
              </a:spcAft>
              <a:buNone/>
            </a:pPr>
            <a:r>
              <a:rPr b="1" lang="en-US" sz="1100"/>
              <a:t>Se requiere una agrupación simple de datos basada en una funcionalidad asociada</a:t>
            </a:r>
            <a:r>
              <a:rPr lang="en-US" sz="1100"/>
              <a:t>. Se desea </a:t>
            </a:r>
            <a:r>
              <a:rPr b="1" lang="en-US" sz="1100"/>
              <a:t>intercambiar información</a:t>
            </a:r>
            <a:r>
              <a:rPr lang="en-US" sz="1100"/>
              <a:t> entre diferentes componentes en APX </a:t>
            </a:r>
            <a:r>
              <a:rPr b="1" lang="en-US" sz="1100"/>
              <a:t>de forma coherente, organizada y agrupada</a:t>
            </a:r>
            <a:r>
              <a:rPr lang="en-US" sz="1100"/>
              <a:t>. siguientes combinaciones: Transacción ← → Biblioteca Librería ← → LibreríaJob ← → Biblioteca</a:t>
            </a:r>
            <a:endParaRPr sz="1100"/>
          </a:p>
          <a:p>
            <a:pPr indent="0" lvl="0" marL="0" rtl="0" algn="l">
              <a:lnSpc>
                <a:spcPct val="115000"/>
              </a:lnSpc>
              <a:spcBef>
                <a:spcPts val="1200"/>
              </a:spcBef>
              <a:spcAft>
                <a:spcPts val="0"/>
              </a:spcAft>
              <a:buNone/>
            </a:pPr>
            <a:r>
              <a:rPr lang="en-US" sz="1100"/>
              <a:t>Puede generar jerarquías de clases DTO.</a:t>
            </a:r>
            <a:endParaRPr sz="1100"/>
          </a:p>
          <a:p>
            <a:pPr indent="0" lvl="0" marL="0" rtl="0" algn="l">
              <a:lnSpc>
                <a:spcPct val="115000"/>
              </a:lnSpc>
              <a:spcBef>
                <a:spcPts val="1200"/>
              </a:spcBef>
              <a:spcAft>
                <a:spcPts val="0"/>
              </a:spcAft>
              <a:buNone/>
            </a:pPr>
            <a:r>
              <a:rPr lang="en-US" sz="1100"/>
              <a:t>El uso de este patrón ayuda a </a:t>
            </a:r>
            <a:r>
              <a:rPr b="1" lang="en-US" sz="1100"/>
              <a:t>identificar las agrupaciones de datos simples y/o complejos, y evita duplicidad de código</a:t>
            </a:r>
            <a:r>
              <a:rPr lang="en-US" sz="1100"/>
              <a:t>, ya que las diferentes clases creadas, pueden ser potencialmente utilizables dentro de la misma aplicación o UUAA (o por otras UUAAs).</a:t>
            </a:r>
            <a:endParaRPr sz="1100"/>
          </a:p>
          <a:p>
            <a:pPr indent="0" lvl="0" marL="0" rtl="0" algn="l">
              <a:lnSpc>
                <a:spcPct val="115000"/>
              </a:lnSpc>
              <a:spcBef>
                <a:spcPts val="1200"/>
              </a:spcBef>
              <a:spcAft>
                <a:spcPts val="0"/>
              </a:spcAft>
              <a:buNone/>
            </a:pPr>
            <a:r>
              <a:rPr lang="en-US" sz="1100"/>
              <a:t>Es obligatorio que los DTOs se implementen dentro de un </a:t>
            </a:r>
            <a:r>
              <a:rPr b="1" lang="en-US" sz="1100"/>
              <a:t>empaquetado independiente </a:t>
            </a:r>
            <a:r>
              <a:rPr lang="en-US" sz="1100"/>
              <a:t>(Bundle DTO) de los componentes de APX de más alto nivel (Transacciones, Librerías y Batch). Esta directriz es de obligado cumplimiento, ya que si no el patrón carece de sentido.</a:t>
            </a:r>
            <a:endParaRPr sz="11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e1c8f31a7b_0_42"/>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1100">
                <a:solidFill>
                  <a:srgbClr val="000000"/>
                </a:solidFill>
              </a:rPr>
              <a:t>D</a:t>
            </a:r>
            <a:r>
              <a:rPr lang="en-US" sz="1100">
                <a:solidFill>
                  <a:srgbClr val="000000"/>
                </a:solidFill>
              </a:rPr>
              <a:t>ependencias circulares</a:t>
            </a:r>
            <a:endParaRPr/>
          </a:p>
        </p:txBody>
      </p:sp>
      <p:sp>
        <p:nvSpPr>
          <p:cNvPr id="258" name="Google Shape;258;ge1c8f31a7b_0_42"/>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9" name="Google Shape;259;ge1c8f31a7b_0_42"/>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260" name="Google Shape;260;ge1c8f31a7b_0_42"/>
          <p:cNvSpPr txBox="1"/>
          <p:nvPr/>
        </p:nvSpPr>
        <p:spPr>
          <a:xfrm>
            <a:off x="471600" y="748716"/>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1100"/>
              <a:t>Las </a:t>
            </a:r>
            <a:r>
              <a:rPr b="1" lang="en-US" sz="1100"/>
              <a:t>dependencias circulares</a:t>
            </a:r>
            <a:r>
              <a:rPr lang="en-US" sz="1100"/>
              <a:t> entre los componentes de la biblioteca y DTO dentro del ecosistema APX </a:t>
            </a:r>
            <a:r>
              <a:rPr b="1" lang="en-US" sz="1100"/>
              <a:t>están absolutamente prohibidas</a:t>
            </a:r>
            <a:r>
              <a:rPr lang="en-US" sz="1100"/>
              <a:t>, ya que pueden hacer </a:t>
            </a:r>
            <a:r>
              <a:rPr b="1" lang="en-US" sz="1100"/>
              <a:t>que Osgi no cargue estas dependencias correctamente.</a:t>
            </a:r>
            <a:endParaRPr b="1" sz="1100"/>
          </a:p>
          <a:p>
            <a:pPr indent="0" lvl="0" marL="0" rtl="0" algn="l">
              <a:lnSpc>
                <a:spcPct val="115000"/>
              </a:lnSpc>
              <a:spcBef>
                <a:spcPts val="1200"/>
              </a:spcBef>
              <a:spcAft>
                <a:spcPts val="0"/>
              </a:spcAft>
              <a:buNone/>
            </a:pPr>
            <a:r>
              <a:rPr lang="en-US" sz="1100"/>
              <a:t>     	Ejemplo de dependencia circular: LIB1 --depends -&gt; LIB2 --depends -&gt; LIB3 --depends -&gt; LIB1</a:t>
            </a:r>
            <a:endParaRPr sz="11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e1c8f31a7b_0_49"/>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1600">
                <a:solidFill>
                  <a:srgbClr val="000000"/>
                </a:solidFill>
              </a:rPr>
              <a:t>Comunicación de APX a servicios NO APX</a:t>
            </a:r>
            <a:endParaRPr sz="1600">
              <a:solidFill>
                <a:srgbClr val="000000"/>
              </a:solidFill>
            </a:endParaRPr>
          </a:p>
          <a:p>
            <a:pPr indent="0" lvl="0" marL="0" rtl="0" algn="l">
              <a:spcBef>
                <a:spcPts val="1200"/>
              </a:spcBef>
              <a:spcAft>
                <a:spcPts val="0"/>
              </a:spcAft>
              <a:buClr>
                <a:schemeClr val="accent4"/>
              </a:buClr>
              <a:buSzPts val="2000"/>
              <a:buFont typeface="Arial"/>
              <a:buNone/>
            </a:pPr>
            <a:r>
              <a:t/>
            </a:r>
            <a:endParaRPr/>
          </a:p>
        </p:txBody>
      </p:sp>
      <p:sp>
        <p:nvSpPr>
          <p:cNvPr id="266" name="Google Shape;266;ge1c8f31a7b_0_49"/>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67" name="Google Shape;267;ge1c8f31a7b_0_49"/>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268" name="Google Shape;268;ge1c8f31a7b_0_49"/>
          <p:cNvSpPr txBox="1"/>
          <p:nvPr/>
        </p:nvSpPr>
        <p:spPr>
          <a:xfrm>
            <a:off x="535900" y="7007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1100"/>
              <a:t>La </a:t>
            </a:r>
            <a:r>
              <a:rPr b="1" lang="en-US" sz="1100"/>
              <a:t>comunicación de APX a otros servicios NO APX se realizará ÚNICAMENTE</a:t>
            </a:r>
            <a:r>
              <a:rPr lang="en-US" sz="1100"/>
              <a:t> a través de la utilidad APX del Conector API genérico (</a:t>
            </a:r>
            <a:r>
              <a:rPr b="1" lang="en-US" sz="1100"/>
              <a:t>APIConnector</a:t>
            </a:r>
            <a:r>
              <a:rPr lang="en-US" sz="1100"/>
              <a:t>). Los conectores no se pueden implementar en aplicaciones para este tipo de acceso.</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r>
              <a:rPr b="1" lang="en-US" sz="1100"/>
              <a:t>No debe incluirse en ningún caso de código funcional en la interfaz de la biblioteca</a:t>
            </a:r>
            <a:r>
              <a:rPr lang="en-US" sz="1100"/>
              <a:t>. El código funcional debe estar siempre en la implementación de la Biblioteca.</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e1c8f31a7b_0_56"/>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1600">
                <a:solidFill>
                  <a:srgbClr val="000000"/>
                </a:solidFill>
              </a:rPr>
              <a:t>Invocaciones a transacciones MainFrame</a:t>
            </a:r>
            <a:endParaRPr sz="1600">
              <a:solidFill>
                <a:srgbClr val="000000"/>
              </a:solidFill>
            </a:endParaRPr>
          </a:p>
          <a:p>
            <a:pPr indent="0" lvl="0" marL="0" rtl="0" algn="l">
              <a:spcBef>
                <a:spcPts val="1200"/>
              </a:spcBef>
              <a:spcAft>
                <a:spcPts val="0"/>
              </a:spcAft>
              <a:buClr>
                <a:schemeClr val="accent4"/>
              </a:buClr>
              <a:buSzPts val="2000"/>
              <a:buFont typeface="Arial"/>
              <a:buNone/>
            </a:pPr>
            <a:r>
              <a:t/>
            </a:r>
            <a:endParaRPr/>
          </a:p>
        </p:txBody>
      </p:sp>
      <p:sp>
        <p:nvSpPr>
          <p:cNvPr id="274" name="Google Shape;274;ge1c8f31a7b_0_56"/>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75" name="Google Shape;275;ge1c8f31a7b_0_56"/>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276" name="Google Shape;276;ge1c8f31a7b_0_56"/>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1100"/>
              <a:t>Es deseable que el código APX </a:t>
            </a:r>
            <a:r>
              <a:rPr b="1" lang="en-US" sz="1100"/>
              <a:t>de la transacción NO invoque ninguna otra transacción Mainframe para evitar acoplamientos y dependencias entre ellos</a:t>
            </a:r>
            <a:r>
              <a:rPr lang="en-US" sz="1100"/>
              <a:t>. Siempre que sea posible, debe 'replicar / copiar' los datos de lectura en la base de datos de la aplicación en APX.</a:t>
            </a:r>
            <a:endParaRPr sz="1100"/>
          </a:p>
          <a:p>
            <a:pPr indent="0" lvl="0" marL="0" rtl="0" algn="l">
              <a:lnSpc>
                <a:spcPct val="115000"/>
              </a:lnSpc>
              <a:spcBef>
                <a:spcPts val="1200"/>
              </a:spcBef>
              <a:spcAft>
                <a:spcPts val="0"/>
              </a:spcAft>
              <a:buNone/>
            </a:pPr>
            <a:r>
              <a:rPr lang="en-US" sz="1100"/>
              <a:t>Si la transacción </a:t>
            </a:r>
            <a:r>
              <a:rPr b="1" lang="en-US" sz="1100"/>
              <a:t>APX invoca MainFrame, debe invocar un máximo de dos veces </a:t>
            </a:r>
            <a:r>
              <a:rPr lang="en-US" sz="1100"/>
              <a:t>y si debe hacerlo más de una vez debe tener la validación del Arquitecto / Soluciones que está involucrado en el proyecto.</a:t>
            </a:r>
            <a:endParaRPr sz="11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e1c8f31a7b_0_63"/>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1600">
                <a:solidFill>
                  <a:srgbClr val="000000"/>
                </a:solidFill>
              </a:rPr>
              <a:t>Capa de acceso a datos desacoplada</a:t>
            </a:r>
            <a:endParaRPr sz="1600">
              <a:solidFill>
                <a:srgbClr val="000000"/>
              </a:solidFill>
            </a:endParaRPr>
          </a:p>
          <a:p>
            <a:pPr indent="0" lvl="0" marL="0" rtl="0" algn="l">
              <a:spcBef>
                <a:spcPts val="1200"/>
              </a:spcBef>
              <a:spcAft>
                <a:spcPts val="0"/>
              </a:spcAft>
              <a:buClr>
                <a:schemeClr val="accent4"/>
              </a:buClr>
              <a:buSzPts val="2000"/>
              <a:buFont typeface="Arial"/>
              <a:buNone/>
            </a:pPr>
            <a:r>
              <a:t/>
            </a:r>
            <a:endParaRPr/>
          </a:p>
        </p:txBody>
      </p:sp>
      <p:sp>
        <p:nvSpPr>
          <p:cNvPr id="282" name="Google Shape;282;ge1c8f31a7b_0_63"/>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3" name="Google Shape;283;ge1c8f31a7b_0_63"/>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284" name="Google Shape;284;ge1c8f31a7b_0_63"/>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1100"/>
              <a:t>La Arquitectura APX proporciona a las aplicaciones las utilidades para ejecutar una consulta a través de los diferentes tipos de bases de datos que BBVA soporta.</a:t>
            </a:r>
            <a:endParaRPr sz="1100"/>
          </a:p>
          <a:p>
            <a:pPr indent="0" lvl="0" marL="0" rtl="0" algn="l">
              <a:lnSpc>
                <a:spcPct val="115000"/>
              </a:lnSpc>
              <a:spcBef>
                <a:spcPts val="1200"/>
              </a:spcBef>
              <a:spcAft>
                <a:spcPts val="0"/>
              </a:spcAft>
              <a:buNone/>
            </a:pPr>
            <a:r>
              <a:rPr b="1" lang="en-US" sz="1100"/>
              <a:t>Las bases de datos SQL y NOSQL están disponibles para ser utilizadas por aplicaciones en su diseño lógico.</a:t>
            </a:r>
            <a:endParaRPr b="1" sz="1100"/>
          </a:p>
          <a:p>
            <a:pPr indent="0" lvl="0" marL="0" rtl="0" algn="l">
              <a:lnSpc>
                <a:spcPct val="115000"/>
              </a:lnSpc>
              <a:spcBef>
                <a:spcPts val="1200"/>
              </a:spcBef>
              <a:spcAft>
                <a:spcPts val="0"/>
              </a:spcAft>
              <a:buNone/>
            </a:pPr>
            <a:r>
              <a:rPr lang="en-US" sz="1100"/>
              <a:t>En el caso de Oracle, se accede a los datos a través de JDBC. La Arquitectura gestiona la ejecución del Commit o Rollback para garantizar la transaccionalidad.</a:t>
            </a:r>
            <a:endParaRPr sz="11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e1c8f31a7b_0_70"/>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1600">
                <a:solidFill>
                  <a:srgbClr val="000000"/>
                </a:solidFill>
              </a:rPr>
              <a:t>Integración con los servicios de seguridad corporativos</a:t>
            </a:r>
            <a:endParaRPr sz="1600">
              <a:solidFill>
                <a:srgbClr val="000000"/>
              </a:solidFill>
            </a:endParaRPr>
          </a:p>
          <a:p>
            <a:pPr indent="0" lvl="0" marL="0" rtl="0" algn="l">
              <a:spcBef>
                <a:spcPts val="1200"/>
              </a:spcBef>
              <a:spcAft>
                <a:spcPts val="0"/>
              </a:spcAft>
              <a:buClr>
                <a:schemeClr val="accent4"/>
              </a:buClr>
              <a:buSzPts val="2000"/>
              <a:buFont typeface="Arial"/>
              <a:buNone/>
            </a:pPr>
            <a:r>
              <a:t/>
            </a:r>
            <a:endParaRPr/>
          </a:p>
        </p:txBody>
      </p:sp>
      <p:sp>
        <p:nvSpPr>
          <p:cNvPr id="290" name="Google Shape;290;ge1c8f31a7b_0_70"/>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1" name="Google Shape;291;ge1c8f31a7b_0_70"/>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292" name="Google Shape;292;ge1c8f31a7b_0_70"/>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1100"/>
              <a:t>La solicitud para ejecutar una transacción desencadena la ejecución del proceso de autorización, delegado en las bibliotecas de seguridad lógica. </a:t>
            </a:r>
            <a:r>
              <a:rPr b="1" lang="en-US" sz="1100"/>
              <a:t>Los componentes de seguridad lógica que dan servicio a la arquitectura no están acoplados a la arquitectura</a:t>
            </a:r>
            <a:r>
              <a:rPr lang="en-US" sz="1100"/>
              <a:t>.</a:t>
            </a:r>
            <a:endParaRPr sz="1100"/>
          </a:p>
          <a:p>
            <a:pPr indent="0" lvl="0" marL="0" rtl="0" algn="l">
              <a:lnSpc>
                <a:spcPct val="115000"/>
              </a:lnSpc>
              <a:spcBef>
                <a:spcPts val="1200"/>
              </a:spcBef>
              <a:spcAft>
                <a:spcPts val="0"/>
              </a:spcAft>
              <a:buNone/>
            </a:pPr>
            <a:r>
              <a:rPr lang="en-US" sz="1100"/>
              <a:t>La arquitectura es independiente de la implementación de la biblioteca.</a:t>
            </a:r>
            <a:endParaRPr sz="11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e1c8f31a7b_0_77"/>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8" name="Google Shape;298;ge1c8f31a7b_0_77"/>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299" name="Google Shape;299;ge1c8f31a7b_0_77"/>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sz="1100"/>
          </a:p>
        </p:txBody>
      </p:sp>
      <p:pic>
        <p:nvPicPr>
          <p:cNvPr id="300" name="Google Shape;300;ge1c8f31a7b_0_77"/>
          <p:cNvPicPr preferRelativeResize="0"/>
          <p:nvPr/>
        </p:nvPicPr>
        <p:blipFill>
          <a:blip r:embed="rId4">
            <a:alphaModFix/>
          </a:blip>
          <a:stretch>
            <a:fillRect/>
          </a:stretch>
        </p:blipFill>
        <p:spPr>
          <a:xfrm>
            <a:off x="624575" y="51825"/>
            <a:ext cx="6796749" cy="43106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e1c8f31a7b_0_84"/>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1200"/>
              </a:spcAft>
              <a:buNone/>
            </a:pPr>
            <a:r>
              <a:rPr lang="en-US" sz="1600">
                <a:solidFill>
                  <a:srgbClr val="000000"/>
                </a:solidFill>
              </a:rPr>
              <a:t>Maven</a:t>
            </a:r>
            <a:endParaRPr/>
          </a:p>
        </p:txBody>
      </p:sp>
      <p:sp>
        <p:nvSpPr>
          <p:cNvPr id="306" name="Google Shape;306;ge1c8f31a7b_0_84"/>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7" name="Google Shape;307;ge1c8f31a7b_0_84"/>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308" name="Google Shape;308;ge1c8f31a7b_0_84"/>
          <p:cNvSpPr txBox="1"/>
          <p:nvPr/>
        </p:nvSpPr>
        <p:spPr>
          <a:xfrm>
            <a:off x="565975" y="103534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1100"/>
              <a:t>Apache Maven es una herramienta de gestión y comprensión de proyectos de software</a:t>
            </a:r>
            <a:r>
              <a:rPr lang="en-US" sz="1100"/>
              <a:t>. Basado en el concepto de un modelo de objetos de proyecto (POM).</a:t>
            </a:r>
            <a:endParaRPr sz="1100"/>
          </a:p>
          <a:p>
            <a:pPr indent="0" lvl="0" marL="0" rtl="0" algn="l">
              <a:lnSpc>
                <a:spcPct val="115000"/>
              </a:lnSpc>
              <a:spcBef>
                <a:spcPts val="1200"/>
              </a:spcBef>
              <a:spcAft>
                <a:spcPts val="0"/>
              </a:spcAft>
              <a:buNone/>
            </a:pPr>
            <a:r>
              <a:rPr lang="en-US" sz="1100"/>
              <a:t>Puede instalar una versión de Maven (se recomienda encarecidamente instalar una versión igual a 3.3.9 o superior). Se descarga del centro de software o del sitio oficial.</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r>
              <a:rPr b="1" lang="en-US" sz="1600"/>
              <a:t>JDK</a:t>
            </a:r>
            <a:endParaRPr b="1" sz="1600"/>
          </a:p>
          <a:p>
            <a:pPr indent="0" lvl="0" marL="0" rtl="0" algn="l">
              <a:lnSpc>
                <a:spcPct val="115000"/>
              </a:lnSpc>
              <a:spcBef>
                <a:spcPts val="1200"/>
              </a:spcBef>
              <a:spcAft>
                <a:spcPts val="0"/>
              </a:spcAft>
              <a:buNone/>
            </a:pPr>
            <a:r>
              <a:rPr lang="en-US" sz="1100"/>
              <a:t>OpenJDK (Open Java Development Kit) </a:t>
            </a:r>
            <a:r>
              <a:rPr b="1" lang="en-US" sz="1100"/>
              <a:t>es una implementación gratuita y de código abierto de la plataforma Java </a:t>
            </a:r>
            <a:r>
              <a:rPr lang="en-US" sz="1100"/>
              <a:t>(se recomienda encarecidamente instalar una versión igual a 1.8).</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e1c8f31a7b_0_91"/>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1600">
                <a:solidFill>
                  <a:srgbClr val="000000"/>
                </a:solidFill>
              </a:rPr>
              <a:t>Artefacto</a:t>
            </a:r>
            <a:endParaRPr sz="1600">
              <a:solidFill>
                <a:srgbClr val="000000"/>
              </a:solidFill>
            </a:endParaRPr>
          </a:p>
          <a:p>
            <a:pPr indent="0" lvl="0" marL="0" rtl="0" algn="l">
              <a:spcBef>
                <a:spcPts val="1200"/>
              </a:spcBef>
              <a:spcAft>
                <a:spcPts val="0"/>
              </a:spcAft>
              <a:buClr>
                <a:schemeClr val="accent4"/>
              </a:buClr>
              <a:buSzPts val="2000"/>
              <a:buFont typeface="Arial"/>
              <a:buNone/>
            </a:pPr>
            <a:r>
              <a:t/>
            </a:r>
            <a:endParaRPr/>
          </a:p>
        </p:txBody>
      </p:sp>
      <p:sp>
        <p:nvSpPr>
          <p:cNvPr id="314" name="Google Shape;314;ge1c8f31a7b_0_91"/>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15" name="Google Shape;315;ge1c8f31a7b_0_91"/>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316" name="Google Shape;316;ge1c8f31a7b_0_91"/>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US" sz="1100"/>
              <a:t>Gestión de </a:t>
            </a:r>
            <a:r>
              <a:rPr b="1" lang="en-US" sz="1100"/>
              <a:t>artefactos construidos disponibles para el proceso de desarrollo </a:t>
            </a:r>
            <a:r>
              <a:rPr lang="en-US" sz="1100"/>
              <a:t>de software. https://globaldevtools.bbva.com/artifactory/webapp/#/home</a:t>
            </a:r>
            <a:endParaRPr sz="11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e1c8f31a7b_0_98"/>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1600">
                <a:solidFill>
                  <a:srgbClr val="000000"/>
                </a:solidFill>
              </a:rPr>
              <a:t>Entorno de ejecución local</a:t>
            </a:r>
            <a:endParaRPr sz="1600">
              <a:solidFill>
                <a:srgbClr val="000000"/>
              </a:solidFill>
            </a:endParaRPr>
          </a:p>
          <a:p>
            <a:pPr indent="0" lvl="0" marL="0" rtl="0" algn="l">
              <a:spcBef>
                <a:spcPts val="1200"/>
              </a:spcBef>
              <a:spcAft>
                <a:spcPts val="0"/>
              </a:spcAft>
              <a:buClr>
                <a:schemeClr val="accent4"/>
              </a:buClr>
              <a:buSzPts val="2000"/>
              <a:buFont typeface="Arial"/>
              <a:buNone/>
            </a:pPr>
            <a:r>
              <a:t/>
            </a:r>
            <a:endParaRPr/>
          </a:p>
        </p:txBody>
      </p:sp>
      <p:sp>
        <p:nvSpPr>
          <p:cNvPr id="322" name="Google Shape;322;ge1c8f31a7b_0_98"/>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23" name="Google Shape;323;ge1c8f31a7b_0_98"/>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324" name="Google Shape;324;ge1c8f31a7b_0_98"/>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1100"/>
              <a:t>El entorno de ejecución APX Local se proporciona con fines de prueba. </a:t>
            </a:r>
            <a:endParaRPr sz="1100"/>
          </a:p>
          <a:p>
            <a:pPr indent="0" lvl="0" marL="0" rtl="0" algn="l">
              <a:lnSpc>
                <a:spcPct val="115000"/>
              </a:lnSpc>
              <a:spcBef>
                <a:spcPts val="1200"/>
              </a:spcBef>
              <a:spcAft>
                <a:spcPts val="0"/>
              </a:spcAft>
              <a:buNone/>
            </a:pPr>
            <a:r>
              <a:rPr lang="en-US" sz="1100"/>
              <a:t>Es una imagen cercana de la arquitectura monolítica implementada en entornos productivos y no productivos. </a:t>
            </a:r>
            <a:endParaRPr sz="1100"/>
          </a:p>
          <a:p>
            <a:pPr indent="0" lvl="0" marL="0" rtl="0" algn="l">
              <a:lnSpc>
                <a:spcPct val="115000"/>
              </a:lnSpc>
              <a:spcBef>
                <a:spcPts val="1200"/>
              </a:spcBef>
              <a:spcAft>
                <a:spcPts val="0"/>
              </a:spcAft>
              <a:buNone/>
            </a:pPr>
            <a:r>
              <a:rPr lang="en-US" sz="1100"/>
              <a:t>Contiene una instancia de JBoss y los paquetes de arquitectura APX. </a:t>
            </a:r>
            <a:endParaRPr sz="1100"/>
          </a:p>
          <a:p>
            <a:pPr indent="0" lvl="0" marL="0" rtl="0" algn="l">
              <a:lnSpc>
                <a:spcPct val="115000"/>
              </a:lnSpc>
              <a:spcBef>
                <a:spcPts val="1200"/>
              </a:spcBef>
              <a:spcAft>
                <a:spcPts val="1200"/>
              </a:spcAft>
              <a:buNone/>
            </a:pPr>
            <a:r>
              <a:rPr lang="en-US" sz="1100"/>
              <a:t>Al utilizar este entorno, los desarrolladores pueden probar sus desarrollos (transacciones, trabajos, etc.) en cada tipo de arquitectura APX: APX en línea, APX Batch y APX Console.</a:t>
            </a:r>
            <a:endParaRPr sz="11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e1c8f31a7b_0_105"/>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2000"/>
              <a:buFont typeface="Arial"/>
              <a:buNone/>
            </a:pPr>
            <a:r>
              <a:rPr lang="en-US"/>
              <a:t>LOGGER</a:t>
            </a:r>
            <a:endParaRPr/>
          </a:p>
        </p:txBody>
      </p:sp>
      <p:sp>
        <p:nvSpPr>
          <p:cNvPr id="330" name="Google Shape;330;ge1c8f31a7b_0_105"/>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31" name="Google Shape;331;ge1c8f31a7b_0_105"/>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332" name="Google Shape;332;ge1c8f31a7b_0_105"/>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1100"/>
              <a:t>LOGGER.trace</a:t>
            </a:r>
            <a:r>
              <a:rPr lang="en-US" sz="1100"/>
              <a:t> (String msg, Object ... args): Imprime i</a:t>
            </a:r>
            <a:r>
              <a:rPr b="1" lang="en-US" sz="1100"/>
              <a:t>nformación con el máximo nivel de detalle</a:t>
            </a:r>
            <a:r>
              <a:rPr lang="en-US" sz="1100"/>
              <a:t>. Recibe un mensaje y/o argumentos (opcional) para complementar el mensaje a imprimir.</a:t>
            </a:r>
            <a:endParaRPr sz="1100"/>
          </a:p>
          <a:p>
            <a:pPr indent="0" lvl="0" marL="0" rtl="0" algn="l">
              <a:lnSpc>
                <a:spcPct val="115000"/>
              </a:lnSpc>
              <a:spcBef>
                <a:spcPts val="1200"/>
              </a:spcBef>
              <a:spcAft>
                <a:spcPts val="0"/>
              </a:spcAft>
              <a:buNone/>
            </a:pPr>
            <a:r>
              <a:rPr b="1" lang="en-US" sz="1100"/>
              <a:t>LOGGER.debug</a:t>
            </a:r>
            <a:r>
              <a:rPr lang="en-US" sz="1100"/>
              <a:t> (String msg, Object ... args): Le permite imprimir datos informativos con detalles finos que son útiles para </a:t>
            </a:r>
            <a:r>
              <a:rPr b="1" lang="en-US" sz="1100"/>
              <a:t>depurar la aplicación</a:t>
            </a:r>
            <a:r>
              <a:rPr lang="en-US" sz="1100"/>
              <a:t>.</a:t>
            </a:r>
            <a:endParaRPr sz="1100"/>
          </a:p>
          <a:p>
            <a:pPr indent="0" lvl="0" marL="0" rtl="0" algn="l">
              <a:lnSpc>
                <a:spcPct val="115000"/>
              </a:lnSpc>
              <a:spcBef>
                <a:spcPts val="1200"/>
              </a:spcBef>
              <a:spcAft>
                <a:spcPts val="0"/>
              </a:spcAft>
              <a:buNone/>
            </a:pPr>
            <a:r>
              <a:rPr b="1" lang="en-US" sz="1100"/>
              <a:t>LOGGER.info</a:t>
            </a:r>
            <a:r>
              <a:rPr lang="en-US" sz="1100"/>
              <a:t> (String msg, Object ... args): </a:t>
            </a:r>
            <a:r>
              <a:rPr b="1" lang="en-US" sz="1100"/>
              <a:t>Imprime información útil</a:t>
            </a:r>
            <a:r>
              <a:rPr lang="en-US" sz="1100"/>
              <a:t> que le permite ver el progreso de la aplicación.</a:t>
            </a:r>
            <a:endParaRPr sz="1100"/>
          </a:p>
          <a:p>
            <a:pPr indent="0" lvl="0" marL="0" rtl="0" algn="l">
              <a:lnSpc>
                <a:spcPct val="115000"/>
              </a:lnSpc>
              <a:spcBef>
                <a:spcPts val="1200"/>
              </a:spcBef>
              <a:spcAft>
                <a:spcPts val="0"/>
              </a:spcAft>
              <a:buNone/>
            </a:pPr>
            <a:r>
              <a:rPr b="1" lang="en-US" sz="1100"/>
              <a:t>LOGGER.warn</a:t>
            </a:r>
            <a:r>
              <a:rPr lang="en-US" sz="1100"/>
              <a:t> (String msg, Object ... args): Imprime </a:t>
            </a:r>
            <a:r>
              <a:rPr b="1" lang="en-US" sz="1100"/>
              <a:t>advertencias o fallas no críticas</a:t>
            </a:r>
            <a:r>
              <a:rPr lang="en-US" sz="1100"/>
              <a:t> de la aplicación, que no impiden que la aplicación continúe su flujo.</a:t>
            </a:r>
            <a:endParaRPr sz="1100"/>
          </a:p>
          <a:p>
            <a:pPr indent="0" lvl="0" marL="0" rtl="0" algn="l">
              <a:lnSpc>
                <a:spcPct val="115000"/>
              </a:lnSpc>
              <a:spcBef>
                <a:spcPts val="1200"/>
              </a:spcBef>
              <a:spcAft>
                <a:spcPts val="1200"/>
              </a:spcAft>
              <a:buNone/>
            </a:pPr>
            <a:r>
              <a:rPr b="1" lang="en-US" sz="1100"/>
              <a:t>LOGGER.error</a:t>
            </a:r>
            <a:r>
              <a:rPr lang="en-US" sz="1100"/>
              <a:t> (String msg, Object ... args): Imprime </a:t>
            </a:r>
            <a:r>
              <a:rPr b="1" lang="en-US" sz="1100"/>
              <a:t>mensajes de error críticos </a:t>
            </a:r>
            <a:r>
              <a:rPr lang="en-US" sz="1100"/>
              <a:t>que impiden que la aplicación funcione correctamente. Estos son los registros habilitados en Producción.</a:t>
            </a:r>
            <a:endParaRPr sz="11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e1c8f31a7b_0_112"/>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2000"/>
              <a:buFont typeface="Arial"/>
              <a:buNone/>
            </a:pPr>
            <a:r>
              <a:rPr lang="en-US"/>
              <a:t>Errores</a:t>
            </a:r>
            <a:endParaRPr/>
          </a:p>
        </p:txBody>
      </p:sp>
      <p:sp>
        <p:nvSpPr>
          <p:cNvPr id="338" name="Google Shape;338;ge1c8f31a7b_0_112"/>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39" name="Google Shape;339;ge1c8f31a7b_0_112"/>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340" name="Google Shape;340;ge1c8f31a7b_0_112"/>
          <p:cNvSpPr txBox="1"/>
          <p:nvPr/>
        </p:nvSpPr>
        <p:spPr>
          <a:xfrm>
            <a:off x="471600" y="748725"/>
            <a:ext cx="6884100" cy="390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1100"/>
              <a:t>Consideraciones a tener en cuenta</a:t>
            </a:r>
            <a:endParaRPr sz="1100"/>
          </a:p>
          <a:p>
            <a:pPr indent="0" lvl="0" marL="0" rtl="0" algn="l">
              <a:lnSpc>
                <a:spcPct val="115000"/>
              </a:lnSpc>
              <a:spcBef>
                <a:spcPts val="1200"/>
              </a:spcBef>
              <a:spcAft>
                <a:spcPts val="0"/>
              </a:spcAft>
              <a:buNone/>
            </a:pPr>
            <a:r>
              <a:rPr lang="en-US" sz="1100"/>
              <a:t>El manejo de errores se lleva a cabo a través de la consola de operación APX actual.</a:t>
            </a:r>
            <a:endParaRPr sz="1100"/>
          </a:p>
          <a:p>
            <a:pPr indent="0" lvl="0" marL="0" rtl="0" algn="l">
              <a:lnSpc>
                <a:spcPct val="115000"/>
              </a:lnSpc>
              <a:spcBef>
                <a:spcPts val="1200"/>
              </a:spcBef>
              <a:spcAft>
                <a:spcPts val="0"/>
              </a:spcAft>
              <a:buNone/>
            </a:pPr>
            <a:r>
              <a:rPr lang="en-US" sz="1100"/>
              <a:t>Cada UUAA tiene un rango de código de error asignado.</a:t>
            </a:r>
            <a:endParaRPr sz="1100"/>
          </a:p>
          <a:p>
            <a:pPr indent="0" lvl="0" marL="0" rtl="0" algn="l">
              <a:lnSpc>
                <a:spcPct val="115000"/>
              </a:lnSpc>
              <a:spcBef>
                <a:spcPts val="1200"/>
              </a:spcBef>
              <a:spcAft>
                <a:spcPts val="0"/>
              </a:spcAft>
              <a:buNone/>
            </a:pPr>
            <a:r>
              <a:rPr b="1" lang="en-US" sz="1100"/>
              <a:t>Se permiten las siguientes operaciones:</a:t>
            </a:r>
            <a:endParaRPr b="1" sz="1100"/>
          </a:p>
          <a:p>
            <a:pPr indent="0" lvl="0" marL="0" rtl="0" algn="l">
              <a:lnSpc>
                <a:spcPct val="115000"/>
              </a:lnSpc>
              <a:spcBef>
                <a:spcPts val="1200"/>
              </a:spcBef>
              <a:spcAft>
                <a:spcPts val="0"/>
              </a:spcAft>
              <a:buNone/>
            </a:pPr>
            <a:r>
              <a:rPr b="1" lang="en-US" sz="1100"/>
              <a:t>Registra un error.</a:t>
            </a:r>
            <a:endParaRPr b="1" sz="1100"/>
          </a:p>
          <a:p>
            <a:pPr indent="0" lvl="0" marL="0" rtl="0" algn="l">
              <a:lnSpc>
                <a:spcPct val="115000"/>
              </a:lnSpc>
              <a:spcBef>
                <a:spcPts val="1200"/>
              </a:spcBef>
              <a:spcAft>
                <a:spcPts val="0"/>
              </a:spcAft>
              <a:buNone/>
            </a:pPr>
            <a:r>
              <a:rPr b="1" lang="en-US" sz="1100"/>
              <a:t>Modificar un error</a:t>
            </a:r>
            <a:endParaRPr b="1" sz="1100"/>
          </a:p>
          <a:p>
            <a:pPr indent="0" lvl="0" marL="0" rtl="0" algn="l">
              <a:lnSpc>
                <a:spcPct val="115000"/>
              </a:lnSpc>
              <a:spcBef>
                <a:spcPts val="1200"/>
              </a:spcBef>
              <a:spcAft>
                <a:spcPts val="0"/>
              </a:spcAft>
              <a:buNone/>
            </a:pPr>
            <a:r>
              <a:rPr b="1" lang="en-US" sz="1100"/>
              <a:t>Consultar un error</a:t>
            </a:r>
            <a:endParaRPr b="1" sz="1100"/>
          </a:p>
          <a:p>
            <a:pPr indent="0" lvl="0" marL="0" rtl="0" algn="l">
              <a:lnSpc>
                <a:spcPct val="115000"/>
              </a:lnSpc>
              <a:spcBef>
                <a:spcPts val="1200"/>
              </a:spcBef>
              <a:spcAft>
                <a:spcPts val="0"/>
              </a:spcAft>
              <a:buNone/>
            </a:pPr>
            <a:r>
              <a:rPr b="1" lang="en-US" sz="1100"/>
              <a:t>UUAA000001 - </a:t>
            </a:r>
            <a:r>
              <a:rPr b="1" lang="en-US" sz="1100"/>
              <a:t>Descripción</a:t>
            </a:r>
            <a:endParaRPr b="1" sz="1100"/>
          </a:p>
          <a:p>
            <a:pPr indent="0" lvl="0" marL="0" rtl="0" algn="l">
              <a:lnSpc>
                <a:spcPct val="115000"/>
              </a:lnSpc>
              <a:spcBef>
                <a:spcPts val="1200"/>
              </a:spcBef>
              <a:spcAft>
                <a:spcPts val="0"/>
              </a:spcAft>
              <a:buNone/>
            </a:pPr>
            <a:r>
              <a:rPr b="1" lang="en-US" sz="1100"/>
              <a:t>UUAA001000 </a:t>
            </a:r>
            <a:r>
              <a:rPr b="1" lang="en-US" sz="1100"/>
              <a:t>- Descripción</a:t>
            </a:r>
            <a:endParaRPr b="1" sz="1100"/>
          </a:p>
          <a:p>
            <a:pPr indent="0" lvl="0" marL="0" rtl="0" algn="l">
              <a:lnSpc>
                <a:spcPct val="115000"/>
              </a:lnSpc>
              <a:spcBef>
                <a:spcPts val="1200"/>
              </a:spcBef>
              <a:spcAft>
                <a:spcPts val="1200"/>
              </a:spcAft>
              <a:buNone/>
            </a:pPr>
            <a:r>
              <a:rPr b="1" lang="en-US" sz="1100"/>
              <a:t>UUAA001001 - NO hay datos en BBDD</a:t>
            </a:r>
            <a:endParaRPr b="1" sz="11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ge1c8f31a7b_0_119"/>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2000"/>
              <a:buFont typeface="Arial"/>
              <a:buNone/>
            </a:pPr>
            <a:r>
              <a:rPr lang="en-US"/>
              <a:t>Visibilidad</a:t>
            </a:r>
            <a:endParaRPr/>
          </a:p>
        </p:txBody>
      </p:sp>
      <p:sp>
        <p:nvSpPr>
          <p:cNvPr id="346" name="Google Shape;346;ge1c8f31a7b_0_119"/>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47" name="Google Shape;347;ge1c8f31a7b_0_119"/>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348" name="Google Shape;348;ge1c8f31a7b_0_119"/>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1100"/>
              <a:t>Visibilidad de bibliotecas</a:t>
            </a:r>
            <a:endParaRPr b="1" sz="1100"/>
          </a:p>
          <a:p>
            <a:pPr indent="0" lvl="0" marL="0" rtl="0" algn="l">
              <a:lnSpc>
                <a:spcPct val="115000"/>
              </a:lnSpc>
              <a:spcBef>
                <a:spcPts val="1200"/>
              </a:spcBef>
              <a:spcAft>
                <a:spcPts val="0"/>
              </a:spcAft>
              <a:buNone/>
            </a:pPr>
            <a:r>
              <a:rPr b="1" lang="en-US" sz="1100"/>
              <a:t>Las bibliotecas pueden definir su propia visibilidad para determinar qué UUAA externas pueden usar sus bibliotecas</a:t>
            </a:r>
            <a:r>
              <a:rPr lang="en-US" sz="1100"/>
              <a:t>.</a:t>
            </a:r>
            <a:endParaRPr sz="1100"/>
          </a:p>
          <a:p>
            <a:pPr indent="0" lvl="0" marL="0" rtl="0" algn="l">
              <a:lnSpc>
                <a:spcPct val="115000"/>
              </a:lnSpc>
              <a:spcBef>
                <a:spcPts val="1200"/>
              </a:spcBef>
              <a:spcAft>
                <a:spcPts val="1200"/>
              </a:spcAft>
              <a:buNone/>
            </a:pPr>
            <a:r>
              <a:rPr lang="en-US" sz="1100"/>
              <a:t>El siguiente formato se utiliza para definir la visibilidad de las bibliotecas en el nivel de configuración de la UUAA</a:t>
            </a:r>
            <a:endParaRPr sz="1100"/>
          </a:p>
        </p:txBody>
      </p:sp>
      <p:pic>
        <p:nvPicPr>
          <p:cNvPr id="349" name="Google Shape;349;ge1c8f31a7b_0_119"/>
          <p:cNvPicPr preferRelativeResize="0"/>
          <p:nvPr/>
        </p:nvPicPr>
        <p:blipFill>
          <a:blip r:embed="rId4">
            <a:alphaModFix/>
          </a:blip>
          <a:stretch>
            <a:fillRect/>
          </a:stretch>
        </p:blipFill>
        <p:spPr>
          <a:xfrm>
            <a:off x="753150" y="2436048"/>
            <a:ext cx="4765035" cy="15678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ge1c8f31a7b_0_126"/>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1100">
                <a:solidFill>
                  <a:srgbClr val="000000"/>
                </a:solidFill>
              </a:rPr>
              <a:t>Ejecución de transacciones asincrónicas</a:t>
            </a:r>
            <a:endParaRPr sz="1100">
              <a:solidFill>
                <a:srgbClr val="000000"/>
              </a:solidFill>
            </a:endParaRPr>
          </a:p>
          <a:p>
            <a:pPr indent="0" lvl="0" marL="0" rtl="0" algn="l">
              <a:spcBef>
                <a:spcPts val="1200"/>
              </a:spcBef>
              <a:spcAft>
                <a:spcPts val="0"/>
              </a:spcAft>
              <a:buClr>
                <a:schemeClr val="accent4"/>
              </a:buClr>
              <a:buSzPts val="2000"/>
              <a:buFont typeface="Arial"/>
              <a:buNone/>
            </a:pPr>
            <a:r>
              <a:t/>
            </a:r>
            <a:endParaRPr sz="1100">
              <a:solidFill>
                <a:srgbClr val="000000"/>
              </a:solidFill>
            </a:endParaRPr>
          </a:p>
        </p:txBody>
      </p:sp>
      <p:sp>
        <p:nvSpPr>
          <p:cNvPr id="355" name="Google Shape;355;ge1c8f31a7b_0_126"/>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56" name="Google Shape;356;ge1c8f31a7b_0_126"/>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357" name="Google Shape;357;ge1c8f31a7b_0_126"/>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1100"/>
              <a:t>Introducción</a:t>
            </a:r>
            <a:endParaRPr sz="1100"/>
          </a:p>
          <a:p>
            <a:pPr indent="0" lvl="0" marL="0" rtl="0" algn="l">
              <a:lnSpc>
                <a:spcPct val="115000"/>
              </a:lnSpc>
              <a:spcBef>
                <a:spcPts val="1200"/>
              </a:spcBef>
              <a:spcAft>
                <a:spcPts val="0"/>
              </a:spcAft>
              <a:buNone/>
            </a:pPr>
            <a:r>
              <a:rPr lang="en-US" sz="1100"/>
              <a:t>En ciertos casos de uso, es necesario ejecutar transacciones de forma asincrónica.</a:t>
            </a:r>
            <a:endParaRPr sz="1100"/>
          </a:p>
          <a:p>
            <a:pPr indent="0" lvl="0" marL="0" rtl="0" algn="l">
              <a:lnSpc>
                <a:spcPct val="115000"/>
              </a:lnSpc>
              <a:spcBef>
                <a:spcPts val="1200"/>
              </a:spcBef>
              <a:spcAft>
                <a:spcPts val="0"/>
              </a:spcAft>
              <a:buNone/>
            </a:pPr>
            <a:r>
              <a:rPr b="1" lang="en-US" sz="1100"/>
              <a:t>Este patrón de consumo no es recomendado por Arquitectura porque se pierde el control de la ejecución y solo se puede utilizar</a:t>
            </a:r>
            <a:r>
              <a:rPr lang="en-US" sz="1100"/>
              <a:t> cuando la operación realizada de forma asíncrona no es crucial para el proceso de negocio, ya que el consumidor de esa transacción </a:t>
            </a:r>
            <a:r>
              <a:rPr b="1" lang="en-US" sz="1100"/>
              <a:t>no sabrá si ha concluido con un commit OK o con un OK retrasado. </a:t>
            </a:r>
            <a:endParaRPr b="1" sz="11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ge1c8f31a7b_0_133"/>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1100">
                <a:solidFill>
                  <a:srgbClr val="000000"/>
                </a:solidFill>
              </a:rPr>
              <a:t>Transacción de solicitud de consumo asincrónico</a:t>
            </a:r>
            <a:endParaRPr sz="1100">
              <a:solidFill>
                <a:srgbClr val="000000"/>
              </a:solidFill>
            </a:endParaRPr>
          </a:p>
          <a:p>
            <a:pPr indent="0" lvl="0" marL="0" rtl="0" algn="l">
              <a:spcBef>
                <a:spcPts val="1200"/>
              </a:spcBef>
              <a:spcAft>
                <a:spcPts val="0"/>
              </a:spcAft>
              <a:buClr>
                <a:schemeClr val="accent4"/>
              </a:buClr>
              <a:buSzPts val="2000"/>
              <a:buFont typeface="Arial"/>
              <a:buNone/>
            </a:pPr>
            <a:r>
              <a:t/>
            </a:r>
            <a:endParaRPr sz="1100">
              <a:solidFill>
                <a:srgbClr val="000000"/>
              </a:solidFill>
            </a:endParaRPr>
          </a:p>
        </p:txBody>
      </p:sp>
      <p:sp>
        <p:nvSpPr>
          <p:cNvPr id="363" name="Google Shape;363;ge1c8f31a7b_0_133"/>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4" name="Google Shape;364;ge1c8f31a7b_0_133"/>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365" name="Google Shape;365;ge1c8f31a7b_0_133"/>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1100"/>
              <a:t>Para registrar las invocaciones a transacciones asincrónicas por transacciones APX, la aplicación debe informar previamente al equipo de Gobernanza Local y completar / modificar las plantillas de servicio ASO. El equipo de Gobernanza identificará qué servicios están consumiendo la transacción afectada para solicitar su recatalogación y elaboración de perfiles.</a:t>
            </a:r>
            <a:endParaRPr sz="1100"/>
          </a:p>
          <a:p>
            <a:pPr indent="0" lvl="0" marL="0" rtl="0" algn="l">
              <a:lnSpc>
                <a:spcPct val="115000"/>
              </a:lnSpc>
              <a:spcBef>
                <a:spcPts val="1200"/>
              </a:spcBef>
              <a:spcAft>
                <a:spcPts val="0"/>
              </a:spcAft>
              <a:buNone/>
            </a:pPr>
            <a:r>
              <a:rPr lang="en-US" sz="1100"/>
              <a:t>Cada consumo de transacción asincrónica debe ser validado por el responsable del proyecto del equipo de Arquitectura.</a:t>
            </a:r>
            <a:endParaRPr sz="1100"/>
          </a:p>
          <a:p>
            <a:pPr indent="0" lvl="0" marL="0" rtl="0" algn="l">
              <a:lnSpc>
                <a:spcPct val="115000"/>
              </a:lnSpc>
              <a:spcBef>
                <a:spcPts val="1200"/>
              </a:spcBef>
              <a:spcAft>
                <a:spcPts val="1200"/>
              </a:spcAft>
              <a:buNone/>
            </a:pPr>
            <a:r>
              <a:rPr lang="en-US" sz="1100"/>
              <a:t>Para realizar la solicitud de registro de consumo asincrónico: Solicitud APX.</a:t>
            </a:r>
            <a:endParaRPr sz="11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ge1c8f31a7b_0_175"/>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1100">
                <a:solidFill>
                  <a:srgbClr val="000000"/>
                </a:solidFill>
              </a:rPr>
              <a:t>Perfilado</a:t>
            </a:r>
            <a:endParaRPr sz="1100">
              <a:solidFill>
                <a:srgbClr val="000000"/>
              </a:solidFill>
            </a:endParaRPr>
          </a:p>
          <a:p>
            <a:pPr indent="0" lvl="0" marL="0" rtl="0" algn="l">
              <a:spcBef>
                <a:spcPts val="1200"/>
              </a:spcBef>
              <a:spcAft>
                <a:spcPts val="0"/>
              </a:spcAft>
              <a:buClr>
                <a:schemeClr val="accent4"/>
              </a:buClr>
              <a:buSzPts val="2000"/>
              <a:buFont typeface="Arial"/>
              <a:buNone/>
            </a:pPr>
            <a:r>
              <a:t/>
            </a:r>
            <a:endParaRPr/>
          </a:p>
        </p:txBody>
      </p:sp>
      <p:sp>
        <p:nvSpPr>
          <p:cNvPr id="371" name="Google Shape;371;ge1c8f31a7b_0_175"/>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72" name="Google Shape;372;ge1c8f31a7b_0_175"/>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373" name="Google Shape;373;ge1c8f31a7b_0_175"/>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1100"/>
              <a:t>Todas las transacciones deben perfilarse</a:t>
            </a:r>
            <a:endParaRPr sz="1100"/>
          </a:p>
          <a:p>
            <a:pPr indent="0" lvl="0" marL="0" rtl="0" algn="l">
              <a:lnSpc>
                <a:spcPct val="115000"/>
              </a:lnSpc>
              <a:spcBef>
                <a:spcPts val="1200"/>
              </a:spcBef>
              <a:spcAft>
                <a:spcPts val="0"/>
              </a:spcAft>
              <a:buNone/>
            </a:pPr>
            <a:r>
              <a:rPr lang="en-US" sz="1100"/>
              <a:t>Se asocian a un Usuario</a:t>
            </a:r>
            <a:endParaRPr sz="1100"/>
          </a:p>
          <a:p>
            <a:pPr indent="0" lvl="0" marL="0" rtl="0" algn="l">
              <a:lnSpc>
                <a:spcPct val="115000"/>
              </a:lnSpc>
              <a:spcBef>
                <a:spcPts val="1200"/>
              </a:spcBef>
              <a:spcAft>
                <a:spcPts val="1200"/>
              </a:spcAft>
              <a:buNone/>
            </a:pPr>
            <a:r>
              <a:rPr lang="en-US" sz="1100"/>
              <a:t>el cual debe asociarse a los Perfiles que </a:t>
            </a:r>
            <a:r>
              <a:rPr lang="en-US" sz="1100"/>
              <a:t>podrán</a:t>
            </a:r>
            <a:r>
              <a:rPr lang="en-US" sz="1100"/>
              <a:t> ejecutarla</a:t>
            </a:r>
            <a:endParaRPr sz="11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e1c8f31a7b_0_182"/>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2000"/>
              <a:buFont typeface="Arial"/>
              <a:buNone/>
            </a:pPr>
            <a:r>
              <a:rPr lang="en-US"/>
              <a:t>Patrones de Diseño</a:t>
            </a:r>
            <a:endParaRPr/>
          </a:p>
        </p:txBody>
      </p:sp>
      <p:sp>
        <p:nvSpPr>
          <p:cNvPr id="379" name="Google Shape;379;ge1c8f31a7b_0_182"/>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80" name="Google Shape;380;ge1c8f31a7b_0_182"/>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381" name="Google Shape;381;ge1c8f31a7b_0_182"/>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1100"/>
              <a:t>Los patrones de diseño apoyan la búsqueda de soluciones a problemas comunes en el desarrollo de software.</a:t>
            </a:r>
            <a:endParaRPr sz="11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e1c8f31a7b_0_189"/>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2000"/>
              <a:buFont typeface="Arial"/>
              <a:buNone/>
            </a:pPr>
            <a:r>
              <a:rPr lang="en-US"/>
              <a:t>Patrones de Diseño</a:t>
            </a:r>
            <a:endParaRPr/>
          </a:p>
          <a:p>
            <a:pPr indent="0" lvl="0" marL="0" rtl="0" algn="l">
              <a:spcBef>
                <a:spcPts val="0"/>
              </a:spcBef>
              <a:spcAft>
                <a:spcPts val="0"/>
              </a:spcAft>
              <a:buClr>
                <a:schemeClr val="accent4"/>
              </a:buClr>
              <a:buSzPts val="2000"/>
              <a:buFont typeface="Arial"/>
              <a:buNone/>
            </a:pPr>
            <a:r>
              <a:t/>
            </a:r>
            <a:endParaRPr/>
          </a:p>
        </p:txBody>
      </p:sp>
      <p:sp>
        <p:nvSpPr>
          <p:cNvPr id="387" name="Google Shape;387;ge1c8f31a7b_0_189"/>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88" name="Google Shape;388;ge1c8f31a7b_0_189"/>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389" name="Google Shape;389;ge1c8f31a7b_0_189"/>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1100"/>
              <a:t>Un patrón de diseño proporciona una solución a un problema de diseño</a:t>
            </a:r>
            <a:r>
              <a:rPr lang="en-US" sz="1100"/>
              <a:t>. Para que una solución se considere patrón, debe cumplir con diferentes características, como la efectividad a la hora de resolver problemas. </a:t>
            </a:r>
            <a:endParaRPr sz="1100"/>
          </a:p>
          <a:p>
            <a:pPr indent="0" lvl="0" marL="0" rtl="0" algn="l">
              <a:lnSpc>
                <a:spcPct val="115000"/>
              </a:lnSpc>
              <a:spcBef>
                <a:spcPts val="1200"/>
              </a:spcBef>
              <a:spcAft>
                <a:spcPts val="0"/>
              </a:spcAft>
              <a:buNone/>
            </a:pPr>
            <a:r>
              <a:rPr lang="en-US" sz="1100"/>
              <a:t>Por tanto, debe ser reutilizable, es decir, aplicable a diferentes problemas en diferentes circunstancias.</a:t>
            </a:r>
            <a:endParaRPr sz="1100"/>
          </a:p>
          <a:p>
            <a:pPr indent="0" lvl="0" marL="0" rtl="0" algn="l">
              <a:lnSpc>
                <a:spcPct val="115000"/>
              </a:lnSpc>
              <a:spcBef>
                <a:spcPts val="1200"/>
              </a:spcBef>
              <a:spcAft>
                <a:spcPts val="0"/>
              </a:spcAft>
              <a:buNone/>
            </a:pPr>
            <a:r>
              <a:rPr b="1" lang="en-US" sz="1100"/>
              <a:t>Paginación en transacciones.</a:t>
            </a:r>
            <a:endParaRPr b="1" sz="1100"/>
          </a:p>
          <a:p>
            <a:pPr indent="0" lvl="0" marL="0" rtl="0" algn="l">
              <a:lnSpc>
                <a:spcPct val="115000"/>
              </a:lnSpc>
              <a:spcBef>
                <a:spcPts val="1200"/>
              </a:spcBef>
              <a:spcAft>
                <a:spcPts val="0"/>
              </a:spcAft>
              <a:buNone/>
            </a:pPr>
            <a:r>
              <a:rPr b="1" lang="en-US" sz="1100"/>
              <a:t>Paginacion en bibliotecas.</a:t>
            </a:r>
            <a:endParaRPr b="1" sz="1100"/>
          </a:p>
          <a:p>
            <a:pPr indent="0" lvl="0" marL="0" rtl="0" algn="l">
              <a:lnSpc>
                <a:spcPct val="115000"/>
              </a:lnSpc>
              <a:spcBef>
                <a:spcPts val="1200"/>
              </a:spcBef>
              <a:spcAft>
                <a:spcPts val="0"/>
              </a:spcAft>
              <a:buNone/>
            </a:pPr>
            <a:r>
              <a:rPr b="1" lang="en-US" sz="1100"/>
              <a:t>CRUD en bibliotecas.</a:t>
            </a:r>
            <a:endParaRPr b="1" sz="1100"/>
          </a:p>
          <a:p>
            <a:pPr indent="0" lvl="0" marL="0" rtl="0" algn="l">
              <a:lnSpc>
                <a:spcPct val="115000"/>
              </a:lnSpc>
              <a:spcBef>
                <a:spcPts val="1200"/>
              </a:spcBef>
              <a:spcAft>
                <a:spcPts val="0"/>
              </a:spcAft>
              <a:buNone/>
            </a:pPr>
            <a:r>
              <a:rPr b="1" lang="en-US" sz="1100"/>
              <a:t>DTO en componentes APX.</a:t>
            </a:r>
            <a:endParaRPr b="1" sz="11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ge1f7795c1c_0_0"/>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2000"/>
              <a:buFont typeface="Arial"/>
              <a:buNone/>
            </a:pPr>
            <a:r>
              <a:rPr lang="en-US"/>
              <a:t>Patrones de Diseño</a:t>
            </a:r>
            <a:endParaRPr/>
          </a:p>
          <a:p>
            <a:pPr indent="0" lvl="0" marL="0" rtl="0" algn="l">
              <a:spcBef>
                <a:spcPts val="0"/>
              </a:spcBef>
              <a:spcAft>
                <a:spcPts val="0"/>
              </a:spcAft>
              <a:buClr>
                <a:schemeClr val="accent4"/>
              </a:buClr>
              <a:buSzPts val="2000"/>
              <a:buFont typeface="Arial"/>
              <a:buNone/>
            </a:pPr>
            <a:r>
              <a:t/>
            </a:r>
            <a:endParaRPr/>
          </a:p>
        </p:txBody>
      </p:sp>
      <p:sp>
        <p:nvSpPr>
          <p:cNvPr id="395" name="Google Shape;395;ge1f7795c1c_0_0"/>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96" name="Google Shape;396;ge1f7795c1c_0_0"/>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397" name="Google Shape;397;ge1f7795c1c_0_0"/>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1100"/>
              <a:t>Antipatrones</a:t>
            </a:r>
            <a:endParaRPr b="1" sz="1100"/>
          </a:p>
          <a:p>
            <a:pPr indent="0" lvl="0" marL="0" rtl="0" algn="l">
              <a:lnSpc>
                <a:spcPct val="115000"/>
              </a:lnSpc>
              <a:spcBef>
                <a:spcPts val="1200"/>
              </a:spcBef>
              <a:spcAft>
                <a:spcPts val="0"/>
              </a:spcAft>
              <a:buNone/>
            </a:pPr>
            <a:r>
              <a:rPr lang="en-US" sz="1100"/>
              <a:t> </a:t>
            </a:r>
            <a:endParaRPr sz="1100"/>
          </a:p>
          <a:p>
            <a:pPr indent="0" lvl="0" marL="0" rtl="0" algn="l">
              <a:lnSpc>
                <a:spcPct val="115000"/>
              </a:lnSpc>
              <a:spcBef>
                <a:spcPts val="1200"/>
              </a:spcBef>
              <a:spcAft>
                <a:spcPts val="0"/>
              </a:spcAft>
              <a:buNone/>
            </a:pPr>
            <a:r>
              <a:rPr lang="en-US" sz="1100"/>
              <a:t>Un </a:t>
            </a:r>
            <a:r>
              <a:rPr b="1" lang="en-US" sz="1100"/>
              <a:t>antipatrón</a:t>
            </a:r>
            <a:r>
              <a:rPr lang="en-US" sz="1100"/>
              <a:t> de diseño es un patrón de diseño que invariablemente conduce a una mala solución a un problema. </a:t>
            </a:r>
            <a:endParaRPr sz="1100"/>
          </a:p>
          <a:p>
            <a:pPr indent="0" lvl="0" marL="0" rtl="0" algn="l">
              <a:lnSpc>
                <a:spcPct val="115000"/>
              </a:lnSpc>
              <a:spcBef>
                <a:spcPts val="1200"/>
              </a:spcBef>
              <a:spcAft>
                <a:spcPts val="0"/>
              </a:spcAft>
              <a:buNone/>
            </a:pPr>
            <a:r>
              <a:rPr lang="en-US" sz="1100"/>
              <a:t>Entre los antipatrones que hemos detectado dentro de APX, citamos los siguientes, así como el enlace a su detalle:</a:t>
            </a:r>
            <a:endParaRPr sz="11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ge1f7795c1c_0_14"/>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2000"/>
              <a:buFont typeface="Arial"/>
              <a:buNone/>
            </a:pPr>
            <a:r>
              <a:rPr lang="en-US"/>
              <a:t>Patrones de Diseño</a:t>
            </a:r>
            <a:endParaRPr/>
          </a:p>
          <a:p>
            <a:pPr indent="0" lvl="0" marL="0" rtl="0" algn="l">
              <a:spcBef>
                <a:spcPts val="0"/>
              </a:spcBef>
              <a:spcAft>
                <a:spcPts val="0"/>
              </a:spcAft>
              <a:buClr>
                <a:schemeClr val="accent4"/>
              </a:buClr>
              <a:buSzPts val="2000"/>
              <a:buFont typeface="Arial"/>
              <a:buNone/>
            </a:pPr>
            <a:r>
              <a:t/>
            </a:r>
            <a:endParaRPr/>
          </a:p>
        </p:txBody>
      </p:sp>
      <p:sp>
        <p:nvSpPr>
          <p:cNvPr id="403" name="Google Shape;403;ge1f7795c1c_0_14"/>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04" name="Google Shape;404;ge1f7795c1c_0_14"/>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405" name="Google Shape;405;ge1f7795c1c_0_14"/>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000"/>
              <a:t>Blob</a:t>
            </a:r>
            <a:endParaRPr b="1"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en-US" sz="1000"/>
              <a:t>Este patrón suele representarse como una única librería (a partir de ahora “The Blob”) que contiene la mayoría de la funcionalidad y que otras librerías utilizan incorrectamente de apoyo.</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en-US" sz="1000"/>
              <a:t>La clave del problema es que “The Blob” puede contener un porcentaje muy elevado de responsabilidades dentro de la solución a diseñar.</a:t>
            </a:r>
            <a:endParaRPr sz="1000"/>
          </a:p>
          <a:p>
            <a:pPr indent="0" lvl="0" marL="0" rtl="0" algn="l">
              <a:lnSpc>
                <a:spcPct val="115000"/>
              </a:lnSpc>
              <a:spcBef>
                <a:spcPts val="0"/>
              </a:spcBef>
              <a:spcAft>
                <a:spcPts val="0"/>
              </a:spcAft>
              <a:buNone/>
            </a:pPr>
            <a:r>
              <a:rPr lang="en-US" sz="1000"/>
              <a:t>Una librería compuesta de sola clase (“The Blob”) con gran cantidad de métodos “execute”. </a:t>
            </a:r>
            <a:endParaRPr sz="1000"/>
          </a:p>
          <a:p>
            <a:pPr indent="0" lvl="0" marL="0" rtl="0" algn="l">
              <a:lnSpc>
                <a:spcPct val="115000"/>
              </a:lnSpc>
              <a:spcBef>
                <a:spcPts val="0"/>
              </a:spcBef>
              <a:spcAft>
                <a:spcPts val="0"/>
              </a:spcAft>
              <a:buNone/>
            </a:pPr>
            <a:r>
              <a:rPr lang="en-US" sz="1000"/>
              <a:t>”The Blob” normalmente es muy complicada de reutilizar y probar. Puede ser ineficiente o introducir excesiva complejidad si se reutiliza para pequeñas partes de su funcionalidad.</a:t>
            </a:r>
            <a:endParaRPr sz="1000"/>
          </a:p>
          <a:p>
            <a:pPr indent="0" lvl="0" marL="0" rtl="0" algn="l">
              <a:lnSpc>
                <a:spcPct val="115000"/>
              </a:lnSpc>
              <a:spcBef>
                <a:spcPts val="0"/>
              </a:spcBef>
              <a:spcAft>
                <a:spcPts val="0"/>
              </a:spcAft>
              <a:buNone/>
            </a:pPr>
            <a:r>
              <a:rPr lang="en-US" sz="1000"/>
              <a:t>“The Blob” puede ser costosa de cargar en memoria, usando recursos excesivos incluso para operaciones simples.</a:t>
            </a:r>
            <a:endParaRPr sz="1000"/>
          </a:p>
          <a:p>
            <a:pPr indent="0" lvl="0" marL="0" rtl="0" algn="l">
              <a:lnSpc>
                <a:spcPct val="115000"/>
              </a:lnSpc>
              <a:spcBef>
                <a:spcPts val="0"/>
              </a:spcBef>
              <a:spcAft>
                <a:spcPts val="0"/>
              </a:spcAft>
              <a:buNone/>
            </a:pPr>
            <a:r>
              <a:rPr lang="en-US" sz="1000"/>
              <a:t>Una modificación de “The blob” puede ser crítica para múltiples operativas para librerías dependientes. El volumen de pruebas de regresión puede ser muy alto.</a:t>
            </a:r>
            <a:endParaRPr sz="1000"/>
          </a:p>
          <a:p>
            <a:pPr indent="0" lvl="0" marL="0" rtl="0" algn="l">
              <a:lnSpc>
                <a:spcPct val="115000"/>
              </a:lnSpc>
              <a:spcBef>
                <a:spcPts val="0"/>
              </a:spcBef>
              <a:spcAft>
                <a:spcPts val="0"/>
              </a:spcAft>
              <a:buNone/>
            </a:pPr>
            <a:r>
              <a:rPr lang="en-US" sz="1000"/>
              <a:t>El despliegue de “The Blob” causa que todas las librerías relacionadas deban reinstalarse, creando un problema de indisponibilidad temporal del servicio y una carga adicional al sistema.</a:t>
            </a:r>
            <a:endParaRPr sz="10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e1f7795c1c_0_28"/>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2000"/>
              <a:buFont typeface="Arial"/>
              <a:buNone/>
            </a:pPr>
            <a:r>
              <a:rPr lang="en-US"/>
              <a:t>Patrones de Diseño</a:t>
            </a:r>
            <a:endParaRPr/>
          </a:p>
          <a:p>
            <a:pPr indent="0" lvl="0" marL="0" rtl="0" algn="l">
              <a:spcBef>
                <a:spcPts val="0"/>
              </a:spcBef>
              <a:spcAft>
                <a:spcPts val="0"/>
              </a:spcAft>
              <a:buClr>
                <a:schemeClr val="accent4"/>
              </a:buClr>
              <a:buSzPts val="2000"/>
              <a:buFont typeface="Arial"/>
              <a:buNone/>
            </a:pPr>
            <a:r>
              <a:t/>
            </a:r>
            <a:endParaRPr/>
          </a:p>
        </p:txBody>
      </p:sp>
      <p:sp>
        <p:nvSpPr>
          <p:cNvPr id="411" name="Google Shape;411;ge1f7795c1c_0_28"/>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12" name="Google Shape;412;ge1f7795c1c_0_28"/>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413" name="Google Shape;413;ge1f7795c1c_0_28"/>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000"/>
              <a:t>Causas</a:t>
            </a:r>
            <a:endParaRPr sz="1000"/>
          </a:p>
          <a:p>
            <a:pPr indent="0" lvl="0" marL="0" rtl="0" algn="l">
              <a:lnSpc>
                <a:spcPct val="115000"/>
              </a:lnSpc>
              <a:spcBef>
                <a:spcPts val="0"/>
              </a:spcBef>
              <a:spcAft>
                <a:spcPts val="0"/>
              </a:spcAft>
              <a:buNone/>
            </a:pPr>
            <a:r>
              <a:rPr b="1" lang="en-US" sz="1000"/>
              <a:t>Reparto de responsabilidades incorrecto</a:t>
            </a:r>
            <a:r>
              <a:rPr lang="en-US" sz="1000"/>
              <a:t>. Es conveniente que se realice un diseño correcto para las nuevas librerías.</a:t>
            </a:r>
            <a:endParaRPr sz="1000"/>
          </a:p>
          <a:p>
            <a:pPr indent="0" lvl="0" marL="0" rtl="0" algn="l">
              <a:lnSpc>
                <a:spcPct val="115000"/>
              </a:lnSpc>
              <a:spcBef>
                <a:spcPts val="0"/>
              </a:spcBef>
              <a:spcAft>
                <a:spcPts val="0"/>
              </a:spcAft>
              <a:buNone/>
            </a:pPr>
            <a:r>
              <a:rPr b="1" lang="en-US" sz="1000"/>
              <a:t>Falta de cumplimiento de la arquitectura</a:t>
            </a:r>
            <a:r>
              <a:rPr lang="en-US" sz="1000"/>
              <a:t>. A veces, este anti-patrón crece accidentalmente, incluso en una arquitectura bien planteada. Esto puede ser el resultado de una inadecuada revisión del diseño de las librerías antes de su desarrollo.</a:t>
            </a:r>
            <a:endParaRPr sz="1000"/>
          </a:p>
          <a:p>
            <a:pPr indent="0" lvl="0" marL="0" rtl="0" algn="l">
              <a:lnSpc>
                <a:spcPct val="115000"/>
              </a:lnSpc>
              <a:spcBef>
                <a:spcPts val="0"/>
              </a:spcBef>
              <a:spcAft>
                <a:spcPts val="0"/>
              </a:spcAft>
              <a:buNone/>
            </a:pPr>
            <a:r>
              <a:rPr b="1" lang="en-US" sz="1000"/>
              <a:t>Intervención demasiado limitada</a:t>
            </a:r>
            <a:r>
              <a:rPr lang="en-US" sz="1000"/>
              <a:t>. En proyectos iterativos, los desarrolladores tienden a agregar pequeñas piezas de funcionalidad a clases existentes (“The Blob”) que ya están funcionando, en lugar de agregar nuevas librerías o revisar las librerías disponibles para una ubicación más eficaz de las responsabilidades.</a:t>
            </a:r>
            <a:endParaRPr sz="1000"/>
          </a:p>
          <a:p>
            <a:pPr indent="0" lvl="0" marL="0" rtl="0" algn="l">
              <a:lnSpc>
                <a:spcPct val="115000"/>
              </a:lnSpc>
              <a:spcBef>
                <a:spcPts val="0"/>
              </a:spcBef>
              <a:spcAft>
                <a:spcPts val="0"/>
              </a:spcAft>
              <a:buNone/>
            </a:pPr>
            <a:r>
              <a:rPr lang="en-US" sz="1000"/>
              <a:t>Soluciones</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en-US" sz="1000"/>
              <a:t>La solución pasa por realizar un “refactoring” del rediseño entre las librerías involucradas. </a:t>
            </a:r>
            <a:endParaRPr sz="1000"/>
          </a:p>
          <a:p>
            <a:pPr indent="0" lvl="0" marL="0" rtl="0" algn="l">
              <a:lnSpc>
                <a:spcPct val="115000"/>
              </a:lnSpc>
              <a:spcBef>
                <a:spcPts val="0"/>
              </a:spcBef>
              <a:spcAft>
                <a:spcPts val="0"/>
              </a:spcAft>
              <a:buNone/>
            </a:pPr>
            <a:r>
              <a:rPr lang="en-US" sz="1000"/>
              <a:t>La clave es mover comportamientos de “The Blob” a sus librerías relacionadas, diferenciando  por las entidades con las que trabajan, reduciendo el acoplamiento entre librerías y simplificando los mantenimientos.</a:t>
            </a:r>
            <a:endParaRPr sz="10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ge1f7795c1c_0_7"/>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2000"/>
              <a:buFont typeface="Arial"/>
              <a:buNone/>
            </a:pPr>
            <a:r>
              <a:rPr lang="en-US"/>
              <a:t>Patrones de Diseño</a:t>
            </a:r>
            <a:endParaRPr/>
          </a:p>
          <a:p>
            <a:pPr indent="0" lvl="0" marL="0" rtl="0" algn="l">
              <a:spcBef>
                <a:spcPts val="0"/>
              </a:spcBef>
              <a:spcAft>
                <a:spcPts val="0"/>
              </a:spcAft>
              <a:buClr>
                <a:schemeClr val="accent4"/>
              </a:buClr>
              <a:buSzPts val="2000"/>
              <a:buFont typeface="Arial"/>
              <a:buNone/>
            </a:pPr>
            <a:r>
              <a:t/>
            </a:r>
            <a:endParaRPr/>
          </a:p>
        </p:txBody>
      </p:sp>
      <p:sp>
        <p:nvSpPr>
          <p:cNvPr id="419" name="Google Shape;419;ge1f7795c1c_0_7"/>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0" name="Google Shape;420;ge1f7795c1c_0_7"/>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421" name="Google Shape;421;ge1f7795c1c_0_7"/>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1100"/>
              <a:t>Contenedor mágico</a:t>
            </a:r>
            <a:r>
              <a:rPr lang="en-US" sz="1100"/>
              <a:t> en Bibliotecas. </a:t>
            </a:r>
            <a:endParaRPr sz="1100"/>
          </a:p>
          <a:p>
            <a:pPr indent="0" lvl="0" marL="0" rtl="0" algn="l">
              <a:lnSpc>
                <a:spcPct val="115000"/>
              </a:lnSpc>
              <a:spcBef>
                <a:spcPts val="1200"/>
              </a:spcBef>
              <a:spcAft>
                <a:spcPts val="0"/>
              </a:spcAft>
              <a:buNone/>
            </a:pPr>
            <a:r>
              <a:rPr lang="en-US" sz="1000"/>
              <a:t>Este patrón suele representarse en una librería que contiene un solo método “execute” con parámetros que actúan como filtros y que engloba diversas funcionalidades dispares en función de sus parámetros de entrada.</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en-US" sz="1000"/>
              <a:t>Otros posibles síntomas/consecuencias serían:</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en-US" sz="1000"/>
              <a:t>Es muy complicada de probar. Dado que contiene múltiples funcionalidades.</a:t>
            </a:r>
            <a:endParaRPr sz="1000"/>
          </a:p>
          <a:p>
            <a:pPr indent="0" lvl="0" marL="0" rtl="0" algn="l">
              <a:lnSpc>
                <a:spcPct val="115000"/>
              </a:lnSpc>
              <a:spcBef>
                <a:spcPts val="0"/>
              </a:spcBef>
              <a:spcAft>
                <a:spcPts val="0"/>
              </a:spcAft>
              <a:buNone/>
            </a:pPr>
            <a:r>
              <a:rPr lang="en-US" sz="1000"/>
              <a:t>Alta complejidad ciclomática, ya que son necesarias muchas sentencias de control para realizar correctamente el filtrado.</a:t>
            </a:r>
            <a:endParaRPr sz="1000"/>
          </a:p>
          <a:p>
            <a:pPr indent="0" lvl="0" marL="0" rtl="0" algn="l">
              <a:lnSpc>
                <a:spcPct val="115000"/>
              </a:lnSpc>
              <a:spcBef>
                <a:spcPts val="0"/>
              </a:spcBef>
              <a:spcAft>
                <a:spcPts val="0"/>
              </a:spcAft>
              <a:buNone/>
            </a:pPr>
            <a:r>
              <a:rPr lang="en-US" sz="1000"/>
              <a:t>Una modificación del método “execute” puede ser crítica para múltiples operativas para librerías dependientes. El volumen de pruebas de regresión puede ser muy alto.</a:t>
            </a:r>
            <a:endParaRPr sz="10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ge1f7795c1c_0_35"/>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2000"/>
              <a:buFont typeface="Arial"/>
              <a:buNone/>
            </a:pPr>
            <a:r>
              <a:rPr lang="en-US"/>
              <a:t>Patrones de Diseño</a:t>
            </a:r>
            <a:endParaRPr/>
          </a:p>
          <a:p>
            <a:pPr indent="0" lvl="0" marL="0" rtl="0" algn="l">
              <a:spcBef>
                <a:spcPts val="0"/>
              </a:spcBef>
              <a:spcAft>
                <a:spcPts val="0"/>
              </a:spcAft>
              <a:buClr>
                <a:schemeClr val="accent4"/>
              </a:buClr>
              <a:buSzPts val="2000"/>
              <a:buFont typeface="Arial"/>
              <a:buNone/>
            </a:pPr>
            <a:r>
              <a:t/>
            </a:r>
            <a:endParaRPr/>
          </a:p>
        </p:txBody>
      </p:sp>
      <p:sp>
        <p:nvSpPr>
          <p:cNvPr id="427" name="Google Shape;427;ge1f7795c1c_0_35"/>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8" name="Google Shape;428;ge1f7795c1c_0_35"/>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429" name="Google Shape;429;ge1f7795c1c_0_35"/>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000" u="sng"/>
              <a:t>Causas</a:t>
            </a:r>
            <a:endParaRPr b="1" sz="1000" u="sng"/>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b="1" lang="en-US" sz="1000"/>
              <a:t>Reparto de responsabilidades incorrecto</a:t>
            </a:r>
            <a:r>
              <a:rPr lang="en-US" sz="1000"/>
              <a:t>. Es conveniente que se realice un diseño correcto para las nuevas librerías (apartado 5).</a:t>
            </a:r>
            <a:endParaRPr sz="1000"/>
          </a:p>
          <a:p>
            <a:pPr indent="0" lvl="0" marL="0" rtl="0" algn="l">
              <a:lnSpc>
                <a:spcPct val="115000"/>
              </a:lnSpc>
              <a:spcBef>
                <a:spcPts val="0"/>
              </a:spcBef>
              <a:spcAft>
                <a:spcPts val="0"/>
              </a:spcAft>
              <a:buNone/>
            </a:pPr>
            <a:r>
              <a:rPr b="1" lang="en-US" sz="1000"/>
              <a:t>Falta de cumplimiento de la arquitectura</a:t>
            </a:r>
            <a:r>
              <a:rPr lang="en-US" sz="1000"/>
              <a:t>. A veces, este anti-patrón crece accidentalmente, incluso en una arquitectura bien planteada. Esto puede ser el resultado de una inadecuada revisión del diseño de las librerías antes de su desarrollo.</a:t>
            </a:r>
            <a:endParaRPr sz="1000"/>
          </a:p>
          <a:p>
            <a:pPr indent="0" lvl="0" marL="0" rtl="0" algn="l">
              <a:lnSpc>
                <a:spcPct val="115000"/>
              </a:lnSpc>
              <a:spcBef>
                <a:spcPts val="0"/>
              </a:spcBef>
              <a:spcAft>
                <a:spcPts val="0"/>
              </a:spcAft>
              <a:buNone/>
            </a:pPr>
            <a:r>
              <a:rPr b="1" lang="en-US" sz="1000"/>
              <a:t>Intervención demasiado limitada</a:t>
            </a:r>
            <a:r>
              <a:rPr lang="en-US" sz="1000"/>
              <a:t>. En proyectos iterativos, los desarrolladores tienden a agregar pequeñas piezas de funcionalidad al método con nuevos filtros que ya está  funcionando, en lugar de agregar nuevas librerías o revisar las librerías disponibles para una ubicación más eficaz de las responsabilidades.</a:t>
            </a:r>
            <a:endParaRPr sz="1000"/>
          </a:p>
          <a:p>
            <a:pPr indent="0" lvl="0" marL="0" rtl="0" algn="l">
              <a:lnSpc>
                <a:spcPct val="115000"/>
              </a:lnSpc>
              <a:spcBef>
                <a:spcPts val="0"/>
              </a:spcBef>
              <a:spcAft>
                <a:spcPts val="0"/>
              </a:spcAft>
              <a:buNone/>
            </a:pPr>
            <a:r>
              <a:rPr b="1" lang="en-US" sz="1000"/>
              <a:t>Alto acoplamiento entre librerías</a:t>
            </a:r>
            <a:r>
              <a:rPr lang="en-US" sz="1000"/>
              <a:t>. El uso creciente de esta librería causa un único punto de error para múltiples librerías. Una modificación incorrecta causaría la indisponibilidad de múltiples librerías dependientes.</a:t>
            </a:r>
            <a:endParaRPr sz="1000"/>
          </a:p>
          <a:p>
            <a:pPr indent="0" lvl="0" marL="0" rtl="0" algn="l">
              <a:lnSpc>
                <a:spcPct val="115000"/>
              </a:lnSpc>
              <a:spcBef>
                <a:spcPts val="0"/>
              </a:spcBef>
              <a:spcAft>
                <a:spcPts val="0"/>
              </a:spcAft>
              <a:buNone/>
            </a:pPr>
            <a:r>
              <a:rPr lang="en-US" sz="1000"/>
              <a:t>Soluciones</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en-US" sz="1000"/>
              <a:t>La solución pasa por realizar un “refactoring” de la librería y una disgregación por entidades. </a:t>
            </a:r>
            <a:endParaRPr sz="10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ge1f7795c1c_0_21"/>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2000"/>
              <a:buFont typeface="Arial"/>
              <a:buNone/>
            </a:pPr>
            <a:r>
              <a:rPr lang="en-US"/>
              <a:t>Patrones de Diseño</a:t>
            </a:r>
            <a:endParaRPr/>
          </a:p>
          <a:p>
            <a:pPr indent="0" lvl="0" marL="0" rtl="0" algn="l">
              <a:spcBef>
                <a:spcPts val="0"/>
              </a:spcBef>
              <a:spcAft>
                <a:spcPts val="0"/>
              </a:spcAft>
              <a:buClr>
                <a:schemeClr val="accent4"/>
              </a:buClr>
              <a:buSzPts val="2000"/>
              <a:buFont typeface="Arial"/>
              <a:buNone/>
            </a:pPr>
            <a:r>
              <a:t/>
            </a:r>
            <a:endParaRPr/>
          </a:p>
        </p:txBody>
      </p:sp>
      <p:sp>
        <p:nvSpPr>
          <p:cNvPr id="435" name="Google Shape;435;ge1f7795c1c_0_21"/>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36" name="Google Shape;436;ge1f7795c1c_0_21"/>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437" name="Google Shape;437;ge1f7795c1c_0_21"/>
          <p:cNvSpPr txBox="1"/>
          <p:nvPr/>
        </p:nvSpPr>
        <p:spPr>
          <a:xfrm>
            <a:off x="471600" y="1003901"/>
            <a:ext cx="6884100" cy="334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1100"/>
              <a:t>Estandarización de código</a:t>
            </a:r>
            <a:endParaRPr b="1" sz="1100"/>
          </a:p>
          <a:p>
            <a:pPr indent="0" lvl="0" marL="0" rtl="0" algn="l">
              <a:lnSpc>
                <a:spcPct val="115000"/>
              </a:lnSpc>
              <a:spcBef>
                <a:spcPts val="1200"/>
              </a:spcBef>
              <a:spcAft>
                <a:spcPts val="0"/>
              </a:spcAft>
              <a:buNone/>
            </a:pPr>
            <a:r>
              <a:rPr lang="en-US" sz="1100"/>
              <a:t>De acuerdo con la nueva forma de trabajo colaborativo, se requiere que todo el desarrollo (clases, métodos, variables y comentarios) </a:t>
            </a:r>
            <a:r>
              <a:rPr b="1" lang="en-US" sz="1100"/>
              <a:t>en APX esté definido en inglés, ya que los componentes se pueden reutilizar en todo el Grupo BBVA.</a:t>
            </a:r>
            <a:endParaRPr b="1" sz="1100"/>
          </a:p>
          <a:p>
            <a:pPr indent="0" lvl="0" marL="0" rtl="0" algn="l">
              <a:lnSpc>
                <a:spcPct val="115000"/>
              </a:lnSpc>
              <a:spcBef>
                <a:spcPts val="1200"/>
              </a:spcBef>
              <a:spcAft>
                <a:spcPts val="0"/>
              </a:spcAft>
              <a:buNone/>
            </a:pPr>
            <a:r>
              <a:rPr b="1" lang="en-US" sz="1100"/>
              <a:t>Reutilización de código</a:t>
            </a:r>
            <a:endParaRPr b="1" sz="1100"/>
          </a:p>
          <a:p>
            <a:pPr indent="0" lvl="0" marL="0" rtl="0" algn="l">
              <a:lnSpc>
                <a:spcPct val="115000"/>
              </a:lnSpc>
              <a:spcBef>
                <a:spcPts val="1200"/>
              </a:spcBef>
              <a:spcAft>
                <a:spcPts val="0"/>
              </a:spcAft>
              <a:buNone/>
            </a:pPr>
            <a:r>
              <a:rPr lang="en-US" sz="1100"/>
              <a:t>El modelo de </a:t>
            </a:r>
            <a:r>
              <a:rPr b="1" lang="en-US" sz="1100"/>
              <a:t>reutilización pasa por el empaquetado del código reutilizable en las bibliotecas APX,</a:t>
            </a:r>
            <a:r>
              <a:rPr lang="en-US" sz="1100"/>
              <a:t> por lo que cualquier lógica reutilizable o acceso a datos debe empaquetarse de tal manera.</a:t>
            </a:r>
            <a:endParaRPr sz="1100"/>
          </a:p>
          <a:p>
            <a:pPr indent="0" lvl="0" marL="0" rtl="0" algn="l">
              <a:lnSpc>
                <a:spcPct val="115000"/>
              </a:lnSpc>
              <a:spcBef>
                <a:spcPts val="1200"/>
              </a:spcBef>
              <a:spcAft>
                <a:spcPts val="0"/>
              </a:spcAft>
              <a:buNone/>
            </a:pPr>
            <a:r>
              <a:rPr lang="en-US" sz="1100"/>
              <a:t>Escritura de registros y seguimiento de errores de la aplicación Registro</a:t>
            </a:r>
            <a:endParaRPr sz="1100"/>
          </a:p>
          <a:p>
            <a:pPr indent="0" lvl="0" marL="0" rtl="0" algn="l">
              <a:lnSpc>
                <a:spcPct val="115000"/>
              </a:lnSpc>
              <a:spcBef>
                <a:spcPts val="1200"/>
              </a:spcBef>
              <a:spcAft>
                <a:spcPts val="0"/>
              </a:spcAft>
              <a:buNone/>
            </a:pPr>
            <a:r>
              <a:rPr lang="en-US" sz="1100"/>
              <a:t>La escritura debe hacerse siempre a través de las utilidades que proporciona Architecture.</a:t>
            </a:r>
            <a:endParaRPr sz="1100"/>
          </a:p>
          <a:p>
            <a:pPr indent="0" lvl="0" marL="0" rtl="0" algn="l">
              <a:lnSpc>
                <a:spcPct val="115000"/>
              </a:lnSpc>
              <a:spcBef>
                <a:spcPts val="1200"/>
              </a:spcBef>
              <a:spcAft>
                <a:spcPts val="0"/>
              </a:spcAft>
              <a:buNone/>
            </a:pPr>
            <a:r>
              <a:rPr b="1" lang="en-US" sz="1100"/>
              <a:t>No está permitido generar archivos propios para escribir registros</a:t>
            </a:r>
            <a:r>
              <a:rPr lang="en-US" sz="1100"/>
              <a:t>. La arquitectura, a través de su utilidad, debe ser la encargada de generar estos archivos de registro. Tampoco está permitido escribir por sysout, debe ser la Arquitectura quien escriba esos scripts.</a:t>
            </a:r>
            <a:endParaRPr sz="11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ge1f7795c1c_0_42"/>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0" lang="en-US" sz="1800">
                <a:solidFill>
                  <a:srgbClr val="000000"/>
                </a:solidFill>
              </a:rPr>
              <a:t>Paginación en transacciones</a:t>
            </a:r>
            <a:endParaRPr b="0" sz="1800">
              <a:solidFill>
                <a:srgbClr val="000000"/>
              </a:solidFill>
            </a:endParaRPr>
          </a:p>
          <a:p>
            <a:pPr indent="0" lvl="0" marL="0" rtl="0" algn="l">
              <a:spcBef>
                <a:spcPts val="0"/>
              </a:spcBef>
              <a:spcAft>
                <a:spcPts val="0"/>
              </a:spcAft>
              <a:buClr>
                <a:schemeClr val="accent4"/>
              </a:buClr>
              <a:buSzPts val="2000"/>
              <a:buFont typeface="Arial"/>
              <a:buNone/>
            </a:pPr>
            <a:r>
              <a:t/>
            </a:r>
            <a:endParaRPr b="0" sz="1800">
              <a:solidFill>
                <a:srgbClr val="000000"/>
              </a:solidFill>
            </a:endParaRPr>
          </a:p>
        </p:txBody>
      </p:sp>
      <p:sp>
        <p:nvSpPr>
          <p:cNvPr id="443" name="Google Shape;443;ge1f7795c1c_0_42"/>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44" name="Google Shape;444;ge1f7795c1c_0_42"/>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445" name="Google Shape;445;ge1f7795c1c_0_42"/>
          <p:cNvSpPr txBox="1"/>
          <p:nvPr/>
        </p:nvSpPr>
        <p:spPr>
          <a:xfrm>
            <a:off x="471600" y="6990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050"/>
              <a:t>Se utilizará este patrón siempre que se requiera dividir un conjunto de datos en varios subconjuntos o páginas y adicionalmente se necesite acceder a ellas de forma aislada.</a:t>
            </a:r>
            <a:endParaRPr sz="1050"/>
          </a:p>
          <a:p>
            <a:pPr indent="0" lvl="0" marL="0" rtl="0" algn="l">
              <a:lnSpc>
                <a:spcPct val="115000"/>
              </a:lnSpc>
              <a:spcBef>
                <a:spcPts val="0"/>
              </a:spcBef>
              <a:spcAft>
                <a:spcPts val="0"/>
              </a:spcAft>
              <a:buNone/>
            </a:pPr>
            <a:r>
              <a:t/>
            </a:r>
            <a:endParaRPr sz="1050"/>
          </a:p>
          <a:p>
            <a:pPr indent="0" lvl="0" marL="0" rtl="0" algn="l">
              <a:lnSpc>
                <a:spcPct val="115000"/>
              </a:lnSpc>
              <a:spcBef>
                <a:spcPts val="0"/>
              </a:spcBef>
              <a:spcAft>
                <a:spcPts val="0"/>
              </a:spcAft>
              <a:buNone/>
            </a:pPr>
            <a:r>
              <a:rPr lang="en-US" sz="1050"/>
              <a:t>El uso de este patrón es conveniente siempre para mejorar la eficiencia de consultas paginadas a orígenes de datos variados, obteniendo únicamente lo que se necesita.</a:t>
            </a:r>
            <a:endParaRPr sz="1050"/>
          </a:p>
          <a:p>
            <a:pPr indent="0" lvl="0" marL="0" rtl="0" algn="l">
              <a:lnSpc>
                <a:spcPct val="115000"/>
              </a:lnSpc>
              <a:spcBef>
                <a:spcPts val="0"/>
              </a:spcBef>
              <a:spcAft>
                <a:spcPts val="0"/>
              </a:spcAft>
              <a:buNone/>
            </a:pPr>
            <a:r>
              <a:t/>
            </a:r>
            <a:endParaRPr sz="1050"/>
          </a:p>
          <a:p>
            <a:pPr indent="0" lvl="0" marL="0" rtl="0" algn="l">
              <a:lnSpc>
                <a:spcPct val="115000"/>
              </a:lnSpc>
              <a:spcBef>
                <a:spcPts val="0"/>
              </a:spcBef>
              <a:spcAft>
                <a:spcPts val="0"/>
              </a:spcAft>
              <a:buNone/>
            </a:pPr>
            <a:r>
              <a:rPr lang="en-US" sz="1050"/>
              <a:t>Este tipo de paginación es el que establece Arquitectura y Calidad como el  más eficiente, tanto en consumo de recursos como en el tiempo de proceso para la consecución de la información, lo que redunda en un menor tiempo de espera por parte del usuario final.</a:t>
            </a:r>
            <a:endParaRPr sz="1050"/>
          </a:p>
          <a:p>
            <a:pPr indent="0" lvl="0" marL="0" rtl="0" algn="l">
              <a:lnSpc>
                <a:spcPct val="115000"/>
              </a:lnSpc>
              <a:spcBef>
                <a:spcPts val="0"/>
              </a:spcBef>
              <a:spcAft>
                <a:spcPts val="0"/>
              </a:spcAft>
              <a:buNone/>
            </a:pPr>
            <a:r>
              <a:t/>
            </a:r>
            <a:endParaRPr sz="1050"/>
          </a:p>
          <a:p>
            <a:pPr indent="0" lvl="0" marL="0" rtl="0" algn="l">
              <a:lnSpc>
                <a:spcPct val="115000"/>
              </a:lnSpc>
              <a:spcBef>
                <a:spcPts val="0"/>
              </a:spcBef>
              <a:spcAft>
                <a:spcPts val="0"/>
              </a:spcAft>
              <a:buNone/>
            </a:pPr>
            <a:r>
              <a:rPr lang="en-US" sz="1050"/>
              <a:t>Las aplicaciones deben calcular el tamaño óptimo que debe contener el bloque del mensaje de respuesta basándose en los siguientes factores:</a:t>
            </a:r>
            <a:endParaRPr sz="1050"/>
          </a:p>
          <a:p>
            <a:pPr indent="0" lvl="0" marL="0" rtl="0" algn="l">
              <a:lnSpc>
                <a:spcPct val="115000"/>
              </a:lnSpc>
              <a:spcBef>
                <a:spcPts val="0"/>
              </a:spcBef>
              <a:spcAft>
                <a:spcPts val="0"/>
              </a:spcAft>
              <a:buNone/>
            </a:pPr>
            <a:r>
              <a:t/>
            </a:r>
            <a:endParaRPr sz="1050"/>
          </a:p>
          <a:p>
            <a:pPr indent="0" lvl="0" marL="0" rtl="0" algn="l">
              <a:lnSpc>
                <a:spcPct val="115000"/>
              </a:lnSpc>
              <a:spcBef>
                <a:spcPts val="0"/>
              </a:spcBef>
              <a:spcAft>
                <a:spcPts val="0"/>
              </a:spcAft>
              <a:buNone/>
            </a:pPr>
            <a:r>
              <a:rPr lang="en-US" sz="1050"/>
              <a:t>Número de filas presentadas por página</a:t>
            </a:r>
            <a:endParaRPr sz="1050"/>
          </a:p>
          <a:p>
            <a:pPr indent="0" lvl="0" marL="0" rtl="0" algn="l">
              <a:lnSpc>
                <a:spcPct val="115000"/>
              </a:lnSpc>
              <a:spcBef>
                <a:spcPts val="0"/>
              </a:spcBef>
              <a:spcAft>
                <a:spcPts val="0"/>
              </a:spcAft>
              <a:buNone/>
            </a:pPr>
            <a:r>
              <a:rPr lang="en-US" sz="1050"/>
              <a:t>Número máximo de páginas que pueden ser enviadas dentro del mensaje de envío</a:t>
            </a:r>
            <a:endParaRPr sz="1050"/>
          </a:p>
          <a:p>
            <a:pPr indent="0" lvl="0" marL="0" rtl="0" algn="l">
              <a:lnSpc>
                <a:spcPct val="115000"/>
              </a:lnSpc>
              <a:spcBef>
                <a:spcPts val="0"/>
              </a:spcBef>
              <a:spcAft>
                <a:spcPts val="0"/>
              </a:spcAft>
              <a:buNone/>
            </a:pPr>
            <a:r>
              <a:rPr lang="en-US" sz="1000"/>
              <a:t>El mensaje de entrada que se recibe desde la aplicación debe incluir un tipo DTO (paginationIn) con los siguientes atributos:</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en-US" sz="1000"/>
              <a:t>Clave de paginación o reposicionamiento (paginationKey). Únicamente se informa en posteriores llamadas. El tamaño máximo de este campo para la transacción será el que defina el propio aplicativo. Tamaño de página (pageSize)</a:t>
            </a:r>
            <a:endParaRPr sz="10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ge1f7795c1c_0_49"/>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US" sz="1000">
                <a:solidFill>
                  <a:srgbClr val="000000"/>
                </a:solidFill>
              </a:rPr>
              <a:t>PAGINACIÓN EN LIBRERÍAS APX</a:t>
            </a:r>
            <a:endParaRPr sz="1000">
              <a:solidFill>
                <a:srgbClr val="000000"/>
              </a:solidFill>
            </a:endParaRPr>
          </a:p>
          <a:p>
            <a:pPr indent="0" lvl="0" marL="0" rtl="0" algn="l">
              <a:spcBef>
                <a:spcPts val="0"/>
              </a:spcBef>
              <a:spcAft>
                <a:spcPts val="0"/>
              </a:spcAft>
              <a:buClr>
                <a:schemeClr val="accent4"/>
              </a:buClr>
              <a:buSzPts val="2000"/>
              <a:buFont typeface="Arial"/>
              <a:buNone/>
            </a:pPr>
            <a:r>
              <a:t/>
            </a:r>
            <a:endParaRPr sz="1000">
              <a:solidFill>
                <a:srgbClr val="000000"/>
              </a:solidFill>
            </a:endParaRPr>
          </a:p>
        </p:txBody>
      </p:sp>
      <p:sp>
        <p:nvSpPr>
          <p:cNvPr id="451" name="Google Shape;451;ge1f7795c1c_0_49"/>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52" name="Google Shape;452;ge1f7795c1c_0_49"/>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453" name="Google Shape;453;ge1f7795c1c_0_49"/>
          <p:cNvSpPr txBox="1"/>
          <p:nvPr/>
        </p:nvSpPr>
        <p:spPr>
          <a:xfrm>
            <a:off x="471600" y="8514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000"/>
              <a:t>Se utilizará este patrón siempre que se requiera dividir un conjunto de datos en varios subconjuntos o páginas y adicionalmente se necesite acceder a ellas de forma aislada.</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en-US" sz="1000"/>
              <a:t>El uso de este patrón es conveniente siempre para mejorar la eficiencia de consultas paginadas a orígenes de datos variados, obteniendo únicamente lo que se necesita.</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en-US" sz="1000"/>
              <a:t>Este tipo de paginación es el que establece Arquitectura y Calidad como el  más eficiente, tanto en consumo de recursos como en el tiempo de proceso para la consecución de la información, lo que redunda en un menor tiempo de espera por parte del usuario final.</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en-US" sz="1000"/>
              <a:t>Las aplicaciones deben calcular el tamaño óptimo que debe contener el bloque del mensaje de respuesta basándose en los siguientes factores:</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en-US" sz="1000"/>
              <a:t>Número de filas presentadas por página</a:t>
            </a:r>
            <a:endParaRPr sz="1000"/>
          </a:p>
          <a:p>
            <a:pPr indent="0" lvl="0" marL="0" rtl="0" algn="l">
              <a:lnSpc>
                <a:spcPct val="115000"/>
              </a:lnSpc>
              <a:spcBef>
                <a:spcPts val="0"/>
              </a:spcBef>
              <a:spcAft>
                <a:spcPts val="0"/>
              </a:spcAft>
              <a:buNone/>
            </a:pPr>
            <a:r>
              <a:rPr lang="en-US" sz="1000"/>
              <a:t>Número máximo de páginas que pueden ser enviadas dentro del mensaje de envío</a:t>
            </a:r>
            <a:endParaRPr sz="1000"/>
          </a:p>
          <a:p>
            <a:pPr indent="0" lvl="0" marL="0" rtl="0" algn="l">
              <a:lnSpc>
                <a:spcPct val="115000"/>
              </a:lnSpc>
              <a:spcBef>
                <a:spcPts val="0"/>
              </a:spcBef>
              <a:spcAft>
                <a:spcPts val="0"/>
              </a:spcAft>
              <a:buNone/>
            </a:pPr>
            <a:r>
              <a:rPr lang="en-US" sz="1000"/>
              <a:t>El mensaje de entrada que se recibe desde la aplicación debe incluir el DTO de la clase PaginationInDTO (es necesario implementarlo) con los siguientes atributos:</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en-US" sz="1000"/>
              <a:t>Clave de paginación o reposicionamiento (paginationKey). Únicamente se informa en posteriores llamadas</a:t>
            </a:r>
            <a:endParaRPr sz="1000"/>
          </a:p>
          <a:p>
            <a:pPr indent="0" lvl="0" marL="0" rtl="0" algn="l">
              <a:lnSpc>
                <a:spcPct val="115000"/>
              </a:lnSpc>
              <a:spcBef>
                <a:spcPts val="0"/>
              </a:spcBef>
              <a:spcAft>
                <a:spcPts val="0"/>
              </a:spcAft>
              <a:buNone/>
            </a:pPr>
            <a:r>
              <a:rPr lang="en-US" sz="1000"/>
              <a:t>Tamaño de página (pageSize)</a:t>
            </a:r>
            <a:endParaRPr sz="10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ge1f7795c1c_0_56"/>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US" sz="1000">
                <a:solidFill>
                  <a:srgbClr val="000000"/>
                </a:solidFill>
              </a:rPr>
              <a:t>PAGINACIÓN EN LIBRERÍAS APX</a:t>
            </a:r>
            <a:endParaRPr sz="1000">
              <a:solidFill>
                <a:srgbClr val="000000"/>
              </a:solidFill>
            </a:endParaRPr>
          </a:p>
          <a:p>
            <a:pPr indent="0" lvl="0" marL="0" rtl="0" algn="l">
              <a:spcBef>
                <a:spcPts val="0"/>
              </a:spcBef>
              <a:spcAft>
                <a:spcPts val="0"/>
              </a:spcAft>
              <a:buClr>
                <a:schemeClr val="accent4"/>
              </a:buClr>
              <a:buSzPts val="2000"/>
              <a:buFont typeface="Arial"/>
              <a:buNone/>
            </a:pPr>
            <a:r>
              <a:t/>
            </a:r>
            <a:endParaRPr/>
          </a:p>
        </p:txBody>
      </p:sp>
      <p:sp>
        <p:nvSpPr>
          <p:cNvPr id="459" name="Google Shape;459;ge1f7795c1c_0_56"/>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60" name="Google Shape;460;ge1f7795c1c_0_56"/>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461" name="Google Shape;461;ge1f7795c1c_0_56"/>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000"/>
              <a:t>El mensaje de salida, además de la información propia del servicio solicitado, debe incluir el DTO de la clase PaginationOutDTO (es necesario implementarlo) con los siguientes atributos: </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en-US" sz="1000"/>
              <a:t>Indicador de si hay o no más datos por recuperar, que informará al aplicativo sobre la necesidad o no de ejecutar otra consulta para obtener el resto de información (hasMoreData)</a:t>
            </a:r>
            <a:endParaRPr sz="1000"/>
          </a:p>
          <a:p>
            <a:pPr indent="0" lvl="0" marL="0" rtl="0" algn="l">
              <a:lnSpc>
                <a:spcPct val="115000"/>
              </a:lnSpc>
              <a:spcBef>
                <a:spcPts val="0"/>
              </a:spcBef>
              <a:spcAft>
                <a:spcPts val="0"/>
              </a:spcAft>
              <a:buNone/>
            </a:pPr>
            <a:r>
              <a:rPr lang="en-US" sz="1000"/>
              <a:t>La clave de reposicionamiento con la que deben volver a invocar la librería para recuperar más filas (paginationKey)</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en-US" sz="1000"/>
              <a:t>El área de entrada es particular y conocida por cada aplicación y APX  no posee ningún dato relativo a paginación.</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en-US" sz="1000"/>
              <a:t>Según este contenido la librería </a:t>
            </a:r>
            <a:r>
              <a:rPr b="1" lang="en-US" sz="1000"/>
              <a:t>deberá componer las consultas</a:t>
            </a:r>
            <a:r>
              <a:rPr lang="en-US" sz="1000"/>
              <a:t> utilizando las librerías proporcionadas en APX y acceder a los diferentes Orígenes de Datos para obtener la información solicitada.  </a:t>
            </a:r>
            <a:endParaRPr sz="10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ge1f7795c1c_0_63"/>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US" sz="1800">
                <a:solidFill>
                  <a:srgbClr val="000000"/>
                </a:solidFill>
              </a:rPr>
              <a:t>PATRÓN CRUD EN LIBRERÍAS APX</a:t>
            </a:r>
            <a:endParaRPr sz="1800">
              <a:solidFill>
                <a:srgbClr val="000000"/>
              </a:solidFill>
            </a:endParaRPr>
          </a:p>
          <a:p>
            <a:pPr indent="0" lvl="0" marL="0" rtl="0" algn="l">
              <a:spcBef>
                <a:spcPts val="0"/>
              </a:spcBef>
              <a:spcAft>
                <a:spcPts val="0"/>
              </a:spcAft>
              <a:buClr>
                <a:schemeClr val="accent4"/>
              </a:buClr>
              <a:buSzPts val="2000"/>
              <a:buFont typeface="Arial"/>
              <a:buNone/>
            </a:pPr>
            <a:r>
              <a:t/>
            </a:r>
            <a:endParaRPr/>
          </a:p>
        </p:txBody>
      </p:sp>
      <p:sp>
        <p:nvSpPr>
          <p:cNvPr id="467" name="Google Shape;467;ge1f7795c1c_0_63"/>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68" name="Google Shape;468;ge1f7795c1c_0_63"/>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469" name="Google Shape;469;ge1f7795c1c_0_63"/>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800"/>
              <a:t>Se utilizará este patrón siempre que se requieran algunas de las operaciones básicas  (Create, Read, Update y Delete) sobre una entidad.</a:t>
            </a:r>
            <a:endParaRPr sz="18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en-US" sz="1000"/>
              <a:t>Este patrón se aplica a cualquier medio de almacenamiento (BBDD, archivos, etc).</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en-US" sz="1000"/>
              <a:t>El uso de este patrón ayuda a tener un mejor mantenimiento de las operativas por entidades y sobre todo para mejorar la reutilización de librerías (mayor granularidad).</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en-US" sz="1000"/>
              <a:t>Otra característica es la centralización en una librería de todas las operaciones básicas sobre una entidad.</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ge1f7795c1c_0_70"/>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US" sz="1800">
                <a:solidFill>
                  <a:srgbClr val="000000"/>
                </a:solidFill>
              </a:rPr>
              <a:t>PATRÓN CRUD EN LIBRERÍAS APX</a:t>
            </a:r>
            <a:endParaRPr sz="1800">
              <a:solidFill>
                <a:srgbClr val="000000"/>
              </a:solidFill>
            </a:endParaRPr>
          </a:p>
          <a:p>
            <a:pPr indent="0" lvl="0" marL="0" rtl="0" algn="l">
              <a:spcBef>
                <a:spcPts val="0"/>
              </a:spcBef>
              <a:spcAft>
                <a:spcPts val="0"/>
              </a:spcAft>
              <a:buClr>
                <a:schemeClr val="accent4"/>
              </a:buClr>
              <a:buSzPts val="2000"/>
              <a:buFont typeface="Arial"/>
              <a:buNone/>
            </a:pPr>
            <a:r>
              <a:t/>
            </a:r>
            <a:endParaRPr/>
          </a:p>
        </p:txBody>
      </p:sp>
      <p:sp>
        <p:nvSpPr>
          <p:cNvPr id="475" name="Google Shape;475;ge1f7795c1c_0_70"/>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76" name="Google Shape;476;ge1f7795c1c_0_70"/>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477" name="Google Shape;477;ge1f7795c1c_0_70"/>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000"/>
              <a:t>Existen dos aproximaciones:</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b="1" lang="en-US" sz="1000"/>
              <a:t>Parcial</a:t>
            </a:r>
            <a:r>
              <a:rPr lang="en-US" sz="1000"/>
              <a:t>: solo se implementan algunas de las operaciones básicas (por ejemplo, lecturas de tablas maestras de BBDD, siempre que se añadan nuevas entradas mediante scripts DML).</a:t>
            </a:r>
            <a:endParaRPr sz="1000"/>
          </a:p>
          <a:p>
            <a:pPr indent="0" lvl="0" marL="0" rtl="0" algn="l">
              <a:lnSpc>
                <a:spcPct val="115000"/>
              </a:lnSpc>
              <a:spcBef>
                <a:spcPts val="0"/>
              </a:spcBef>
              <a:spcAft>
                <a:spcPts val="0"/>
              </a:spcAft>
              <a:buNone/>
            </a:pPr>
            <a:r>
              <a:rPr b="1" lang="en-US" sz="1000"/>
              <a:t>Completa</a:t>
            </a:r>
            <a:r>
              <a:rPr lang="en-US" sz="1000"/>
              <a:t>: se implementan todas las operaciones básicas.</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en-US" sz="1000"/>
              <a:t>Cada operación debe tener una implementación ligera, evitando extender la lógica más allá del objetivo de la operación (por ejemplo, mezclando operativas con otras entidades).</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en-US" sz="1000"/>
              <a:t>Como contraindicación, </a:t>
            </a:r>
            <a:r>
              <a:rPr b="1" lang="en-US" sz="1000"/>
              <a:t>no se deben tener varias librerías parciales para una única entidad</a:t>
            </a:r>
            <a:r>
              <a:rPr lang="en-US" sz="1000"/>
              <a:t>, ya que estaríamos desvirtuando el patrón. Si es posible (y recomendable), mantener todas las operaciones sobre la entidad encapsuladas en la librería, como lecturas avanzadas, etc.</a:t>
            </a:r>
            <a:endParaRPr sz="10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ge1f7795c1c_0_77"/>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2000"/>
              <a:buFont typeface="Arial"/>
              <a:buNone/>
            </a:pPr>
            <a:r>
              <a:rPr lang="en-US"/>
              <a:t>DTO</a:t>
            </a:r>
            <a:endParaRPr/>
          </a:p>
        </p:txBody>
      </p:sp>
      <p:sp>
        <p:nvSpPr>
          <p:cNvPr id="483" name="Google Shape;483;ge1f7795c1c_0_77"/>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84" name="Google Shape;484;ge1f7795c1c_0_77"/>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485" name="Google Shape;485;ge1f7795c1c_0_77"/>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n-US" sz="1200"/>
              <a:t>La arquitectura APX soporta el patrón Data Transfer Object, tanto en para entorno Online, como para el entorno Batch. El uso de este patrón es de uso obligado siempre que:</a:t>
            </a:r>
            <a:endParaRPr sz="1200"/>
          </a:p>
          <a:p>
            <a:pPr indent="0" lvl="0" marL="0" rtl="0" algn="just">
              <a:lnSpc>
                <a:spcPct val="115000"/>
              </a:lnSpc>
              <a:spcBef>
                <a:spcPts val="0"/>
              </a:spcBef>
              <a:spcAft>
                <a:spcPts val="0"/>
              </a:spcAft>
              <a:buNone/>
            </a:pPr>
            <a:r>
              <a:rPr lang="en-US" sz="1200"/>
              <a:t>Se necesite una agrupación de datos simples en una clase con cierta funcionalidad asociada.</a:t>
            </a:r>
            <a:endParaRPr sz="1200"/>
          </a:p>
          <a:p>
            <a:pPr indent="0" lvl="0" marL="0" rtl="0" algn="just">
              <a:lnSpc>
                <a:spcPct val="115000"/>
              </a:lnSpc>
              <a:spcBef>
                <a:spcPts val="0"/>
              </a:spcBef>
              <a:spcAft>
                <a:spcPts val="0"/>
              </a:spcAft>
              <a:buNone/>
            </a:pPr>
            <a:r>
              <a:rPr lang="en-US" sz="1200"/>
              <a:t>Se quiera intercambiar información entre diferentes componentes en APX de forma coherente, organizada y agrupada.</a:t>
            </a:r>
            <a:endParaRPr sz="1200"/>
          </a:p>
          <a:p>
            <a:pPr indent="0" lvl="0" marL="0" rtl="0" algn="just">
              <a:lnSpc>
                <a:spcPct val="115000"/>
              </a:lnSpc>
              <a:spcBef>
                <a:spcPts val="0"/>
              </a:spcBef>
              <a:spcAft>
                <a:spcPts val="0"/>
              </a:spcAft>
              <a:buNone/>
            </a:pPr>
            <a:r>
              <a:rPr lang="en-US" sz="1200"/>
              <a:t>Implementar un Servicio Backend</a:t>
            </a:r>
            <a:endParaRPr sz="1200"/>
          </a:p>
          <a:p>
            <a:pPr indent="0" lvl="0" marL="0" rtl="0" algn="just">
              <a:lnSpc>
                <a:spcPct val="115000"/>
              </a:lnSpc>
              <a:spcBef>
                <a:spcPts val="0"/>
              </a:spcBef>
              <a:spcAft>
                <a:spcPts val="0"/>
              </a:spcAft>
              <a:buNone/>
            </a:pPr>
            <a:r>
              <a:rPr lang="en-US" sz="1200"/>
              <a:t>Como características de uso, cabe destacar:</a:t>
            </a:r>
            <a:endParaRPr sz="1200"/>
          </a:p>
          <a:p>
            <a:pPr indent="0" lvl="0" marL="0" rtl="0" algn="just">
              <a:lnSpc>
                <a:spcPct val="115000"/>
              </a:lnSpc>
              <a:spcBef>
                <a:spcPts val="0"/>
              </a:spcBef>
              <a:spcAft>
                <a:spcPts val="0"/>
              </a:spcAft>
              <a:buNone/>
            </a:pPr>
            <a:r>
              <a:rPr lang="en-US" sz="1200"/>
              <a:t>Es aplicable para las siguientes combinaciones:</a:t>
            </a:r>
            <a:endParaRPr sz="1200"/>
          </a:p>
          <a:p>
            <a:pPr indent="0" lvl="0" marL="457200" rtl="0" algn="just">
              <a:lnSpc>
                <a:spcPct val="115000"/>
              </a:lnSpc>
              <a:spcBef>
                <a:spcPts val="0"/>
              </a:spcBef>
              <a:spcAft>
                <a:spcPts val="0"/>
              </a:spcAft>
              <a:buNone/>
            </a:pPr>
            <a:r>
              <a:rPr lang="en-US" sz="1100"/>
              <a:t>Transacción←→ Librería</a:t>
            </a:r>
            <a:endParaRPr sz="1100"/>
          </a:p>
          <a:p>
            <a:pPr indent="0" lvl="0" marL="457200" rtl="0" algn="just">
              <a:lnSpc>
                <a:spcPct val="115000"/>
              </a:lnSpc>
              <a:spcBef>
                <a:spcPts val="0"/>
              </a:spcBef>
              <a:spcAft>
                <a:spcPts val="0"/>
              </a:spcAft>
              <a:buNone/>
            </a:pPr>
            <a:r>
              <a:rPr lang="en-US" sz="1100"/>
              <a:t>Librería ←→ Librería</a:t>
            </a:r>
            <a:r>
              <a:rPr lang="en-US" sz="2400"/>
              <a:t>    </a:t>
            </a:r>
            <a:endParaRPr sz="2400"/>
          </a:p>
          <a:p>
            <a:pPr indent="0" lvl="0" marL="457200" rtl="0" algn="just">
              <a:lnSpc>
                <a:spcPct val="115000"/>
              </a:lnSpc>
              <a:spcBef>
                <a:spcPts val="0"/>
              </a:spcBef>
              <a:spcAft>
                <a:spcPts val="0"/>
              </a:spcAft>
              <a:buNone/>
            </a:pPr>
            <a:r>
              <a:rPr lang="en-US" sz="1100"/>
              <a:t>Job ←→ Librería</a:t>
            </a:r>
            <a:endParaRPr sz="11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ge1f7795c1c_0_84"/>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4"/>
              </a:buClr>
              <a:buSzPts val="2000"/>
              <a:buFont typeface="Arial"/>
              <a:buNone/>
            </a:pPr>
            <a:r>
              <a:rPr lang="en-US"/>
              <a:t>DTO</a:t>
            </a:r>
            <a:endParaRPr/>
          </a:p>
        </p:txBody>
      </p:sp>
      <p:sp>
        <p:nvSpPr>
          <p:cNvPr id="491" name="Google Shape;491;ge1f7795c1c_0_84"/>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92" name="Google Shape;492;ge1f7795c1c_0_84"/>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493" name="Google Shape;493;ge1f7795c1c_0_84"/>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n-US" sz="1200"/>
              <a:t>Se pueden generar jerarquías de clases DTO, con la única restricción de que estas clases no tengan dependencias circulares entre ellas.</a:t>
            </a:r>
            <a:endParaRPr sz="1200"/>
          </a:p>
          <a:p>
            <a:pPr indent="0" lvl="0" marL="0" rtl="0" algn="just">
              <a:lnSpc>
                <a:spcPct val="115000"/>
              </a:lnSpc>
              <a:spcBef>
                <a:spcPts val="0"/>
              </a:spcBef>
              <a:spcAft>
                <a:spcPts val="0"/>
              </a:spcAft>
              <a:buNone/>
            </a:pPr>
            <a:r>
              <a:rPr lang="en-US" sz="1200"/>
              <a:t>Las transacciones y las librerías pueden recibir como parámetro de entrada y de salida DTOs.</a:t>
            </a:r>
            <a:endParaRPr sz="1200"/>
          </a:p>
          <a:p>
            <a:pPr indent="0" lvl="0" marL="0" rtl="0" algn="just">
              <a:lnSpc>
                <a:spcPct val="115000"/>
              </a:lnSpc>
              <a:spcBef>
                <a:spcPts val="0"/>
              </a:spcBef>
              <a:spcAft>
                <a:spcPts val="0"/>
              </a:spcAft>
              <a:buNone/>
            </a:pPr>
            <a:r>
              <a:rPr lang="en-US" sz="1200"/>
              <a:t>El uso de este patrón ayuda a identificar las agrupaciones de datos simples y/o complejos, y evita duplicidad de código, ya que las diferentes clases creadas, pueden ser potencialmente utilizables dentro de la misma aplicación o UUAA (o por otras UUAAs).</a:t>
            </a:r>
            <a:endParaRPr sz="1200"/>
          </a:p>
          <a:p>
            <a:pPr indent="0" lvl="0" marL="0" rtl="0" algn="just">
              <a:lnSpc>
                <a:spcPct val="115000"/>
              </a:lnSpc>
              <a:spcBef>
                <a:spcPts val="0"/>
              </a:spcBef>
              <a:spcAft>
                <a:spcPts val="0"/>
              </a:spcAft>
              <a:buNone/>
            </a:pPr>
            <a:r>
              <a:t/>
            </a:r>
            <a:endParaRPr sz="1200"/>
          </a:p>
          <a:p>
            <a:pPr indent="0" lvl="0" marL="0" rtl="0" algn="just">
              <a:lnSpc>
                <a:spcPct val="115000"/>
              </a:lnSpc>
              <a:spcBef>
                <a:spcPts val="0"/>
              </a:spcBef>
              <a:spcAft>
                <a:spcPts val="0"/>
              </a:spcAft>
              <a:buNone/>
            </a:pPr>
            <a:r>
              <a:rPr lang="en-US" sz="1200"/>
              <a:t>Es obligatorio que los DTOs se implementen dentro de un empaquetado independiente (Bundle DTO) de los componentes de APX de más alto nivel (Transacciones, Librerías y Batch). </a:t>
            </a:r>
            <a:r>
              <a:rPr b="1" lang="en-US" sz="1200"/>
              <a:t>Esta directriz es de obligado cumplimiento</a:t>
            </a:r>
            <a:r>
              <a:rPr lang="en-US" sz="1200"/>
              <a:t>, ya que si no el patrón carece de sentido.</a:t>
            </a:r>
            <a:endParaRPr sz="12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pic>
        <p:nvPicPr>
          <p:cNvPr id="498" name="Google Shape;498;ge1f7795c1c_0_98"/>
          <p:cNvPicPr preferRelativeResize="0"/>
          <p:nvPr/>
        </p:nvPicPr>
        <p:blipFill rotWithShape="1">
          <a:blip r:embed="rId3">
            <a:alphaModFix/>
          </a:blip>
          <a:srcRect b="0" l="0" r="0" t="0"/>
          <a:stretch/>
        </p:blipFill>
        <p:spPr>
          <a:xfrm>
            <a:off x="5926683" y="2927941"/>
            <a:ext cx="3217317" cy="1567859"/>
          </a:xfrm>
          <a:prstGeom prst="rect">
            <a:avLst/>
          </a:prstGeom>
          <a:noFill/>
          <a:ln>
            <a:noFill/>
          </a:ln>
        </p:spPr>
      </p:pic>
      <p:sp>
        <p:nvSpPr>
          <p:cNvPr id="499" name="Google Shape;499;ge1f7795c1c_0_98"/>
          <p:cNvSpPr/>
          <p:nvPr/>
        </p:nvSpPr>
        <p:spPr>
          <a:xfrm>
            <a:off x="857975" y="370700"/>
            <a:ext cx="1523700" cy="693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ge1f7795c1c_0_98"/>
          <p:cNvSpPr/>
          <p:nvPr/>
        </p:nvSpPr>
        <p:spPr>
          <a:xfrm>
            <a:off x="1382675" y="1414050"/>
            <a:ext cx="550800" cy="50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ge1f7795c1c_0_98"/>
          <p:cNvSpPr/>
          <p:nvPr/>
        </p:nvSpPr>
        <p:spPr>
          <a:xfrm>
            <a:off x="1394500" y="2160200"/>
            <a:ext cx="550800" cy="50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2" name="Google Shape;502;ge1f7795c1c_0_98"/>
          <p:cNvCxnSpPr>
            <a:stCxn id="499" idx="4"/>
            <a:endCxn id="500" idx="0"/>
          </p:cNvCxnSpPr>
          <p:nvPr/>
        </p:nvCxnSpPr>
        <p:spPr>
          <a:xfrm>
            <a:off x="1619825" y="1064600"/>
            <a:ext cx="38400" cy="349500"/>
          </a:xfrm>
          <a:prstGeom prst="straightConnector1">
            <a:avLst/>
          </a:prstGeom>
          <a:noFill/>
          <a:ln cap="flat" cmpd="sng" w="9525">
            <a:solidFill>
              <a:schemeClr val="dk2"/>
            </a:solidFill>
            <a:prstDash val="solid"/>
            <a:round/>
            <a:headEnd len="med" w="med" type="none"/>
            <a:tailEnd len="med" w="med" type="none"/>
          </a:ln>
        </p:spPr>
      </p:cxnSp>
      <p:cxnSp>
        <p:nvCxnSpPr>
          <p:cNvPr id="503" name="Google Shape;503;ge1f7795c1c_0_98"/>
          <p:cNvCxnSpPr/>
          <p:nvPr/>
        </p:nvCxnSpPr>
        <p:spPr>
          <a:xfrm flipH="1">
            <a:off x="1653875" y="1921950"/>
            <a:ext cx="8400" cy="349500"/>
          </a:xfrm>
          <a:prstGeom prst="straightConnector1">
            <a:avLst/>
          </a:prstGeom>
          <a:noFill/>
          <a:ln cap="flat" cmpd="sng" w="9525">
            <a:solidFill>
              <a:schemeClr val="dk2"/>
            </a:solidFill>
            <a:prstDash val="solid"/>
            <a:round/>
            <a:headEnd len="med" w="med" type="none"/>
            <a:tailEnd len="med" w="med" type="none"/>
          </a:ln>
        </p:spPr>
      </p:cxnSp>
      <p:sp>
        <p:nvSpPr>
          <p:cNvPr id="504" name="Google Shape;504;ge1f7795c1c_0_98"/>
          <p:cNvSpPr/>
          <p:nvPr/>
        </p:nvSpPr>
        <p:spPr>
          <a:xfrm>
            <a:off x="1394500" y="2977875"/>
            <a:ext cx="550800" cy="50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5" name="Google Shape;505;ge1f7795c1c_0_98"/>
          <p:cNvCxnSpPr/>
          <p:nvPr/>
        </p:nvCxnSpPr>
        <p:spPr>
          <a:xfrm flipH="1">
            <a:off x="1662125" y="2668100"/>
            <a:ext cx="8400" cy="349500"/>
          </a:xfrm>
          <a:prstGeom prst="straightConnector1">
            <a:avLst/>
          </a:prstGeom>
          <a:noFill/>
          <a:ln cap="flat" cmpd="sng" w="9525">
            <a:solidFill>
              <a:schemeClr val="dk2"/>
            </a:solidFill>
            <a:prstDash val="solid"/>
            <a:round/>
            <a:headEnd len="med" w="med" type="none"/>
            <a:tailEnd len="med" w="med" type="none"/>
          </a:ln>
        </p:spPr>
      </p:cxnSp>
      <p:sp>
        <p:nvSpPr>
          <p:cNvPr id="506" name="Google Shape;506;ge1f7795c1c_0_98"/>
          <p:cNvSpPr/>
          <p:nvPr/>
        </p:nvSpPr>
        <p:spPr>
          <a:xfrm>
            <a:off x="1051125" y="1414050"/>
            <a:ext cx="1216200" cy="2124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ge1f7795c1c_0_98"/>
          <p:cNvSpPr/>
          <p:nvPr/>
        </p:nvSpPr>
        <p:spPr>
          <a:xfrm>
            <a:off x="4531104" y="151100"/>
            <a:ext cx="1348800" cy="693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ge1f7795c1c_0_98"/>
          <p:cNvSpPr/>
          <p:nvPr/>
        </p:nvSpPr>
        <p:spPr>
          <a:xfrm>
            <a:off x="4912725" y="1924125"/>
            <a:ext cx="550800" cy="50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ge1f7795c1c_0_98"/>
          <p:cNvSpPr/>
          <p:nvPr/>
        </p:nvSpPr>
        <p:spPr>
          <a:xfrm>
            <a:off x="5704300" y="1924125"/>
            <a:ext cx="550800" cy="50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0" name="Google Shape;510;ge1f7795c1c_0_98"/>
          <p:cNvCxnSpPr>
            <a:stCxn id="507" idx="4"/>
            <a:endCxn id="508" idx="0"/>
          </p:cNvCxnSpPr>
          <p:nvPr/>
        </p:nvCxnSpPr>
        <p:spPr>
          <a:xfrm flipH="1">
            <a:off x="5188104" y="845000"/>
            <a:ext cx="17400" cy="1079100"/>
          </a:xfrm>
          <a:prstGeom prst="straightConnector1">
            <a:avLst/>
          </a:prstGeom>
          <a:noFill/>
          <a:ln cap="flat" cmpd="sng" w="9525">
            <a:solidFill>
              <a:schemeClr val="dk2"/>
            </a:solidFill>
            <a:prstDash val="solid"/>
            <a:round/>
            <a:headEnd len="med" w="med" type="none"/>
            <a:tailEnd len="med" w="med" type="none"/>
          </a:ln>
        </p:spPr>
      </p:cxnSp>
      <p:sp>
        <p:nvSpPr>
          <p:cNvPr id="511" name="Google Shape;511;ge1f7795c1c_0_98"/>
          <p:cNvSpPr/>
          <p:nvPr/>
        </p:nvSpPr>
        <p:spPr>
          <a:xfrm>
            <a:off x="4121150" y="1924125"/>
            <a:ext cx="550800" cy="50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ge1f7795c1c_0_98"/>
          <p:cNvSpPr/>
          <p:nvPr/>
        </p:nvSpPr>
        <p:spPr>
          <a:xfrm>
            <a:off x="6563825" y="1414050"/>
            <a:ext cx="550800" cy="50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ge1f7795c1c_0_98"/>
          <p:cNvSpPr/>
          <p:nvPr/>
        </p:nvSpPr>
        <p:spPr>
          <a:xfrm>
            <a:off x="6563825" y="755063"/>
            <a:ext cx="550800" cy="50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ge1f7795c1c_0_98"/>
          <p:cNvSpPr/>
          <p:nvPr/>
        </p:nvSpPr>
        <p:spPr>
          <a:xfrm>
            <a:off x="2994763" y="1266000"/>
            <a:ext cx="550800" cy="50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ge1f7795c1c_0_98"/>
          <p:cNvSpPr/>
          <p:nvPr/>
        </p:nvSpPr>
        <p:spPr>
          <a:xfrm>
            <a:off x="2965538" y="46000"/>
            <a:ext cx="550800" cy="50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ge1f7795c1c_0_98"/>
          <p:cNvSpPr/>
          <p:nvPr/>
        </p:nvSpPr>
        <p:spPr>
          <a:xfrm>
            <a:off x="6563825" y="96075"/>
            <a:ext cx="550800" cy="50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ge1f7795c1c_0_98"/>
          <p:cNvSpPr/>
          <p:nvPr/>
        </p:nvSpPr>
        <p:spPr>
          <a:xfrm>
            <a:off x="2965538" y="655988"/>
            <a:ext cx="550800" cy="50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BVA Plantilla 16-9">
  <a:themeElements>
    <a:clrScheme name="BBVA CORONITA">
      <a:dk1>
        <a:srgbClr val="004481"/>
      </a:dk1>
      <a:lt1>
        <a:srgbClr val="FFFFFF"/>
      </a:lt1>
      <a:dk2>
        <a:srgbClr val="1464A5"/>
      </a:dk2>
      <a:lt2>
        <a:srgbClr val="121212"/>
      </a:lt2>
      <a:accent1>
        <a:srgbClr val="1973B8"/>
      </a:accent1>
      <a:accent2>
        <a:srgbClr val="5BBEFF"/>
      </a:accent2>
      <a:accent3>
        <a:srgbClr val="2DCCCD"/>
      </a:accent3>
      <a:accent4>
        <a:srgbClr val="072146"/>
      </a:accent4>
      <a:accent5>
        <a:srgbClr val="D8BE75"/>
      </a:accent5>
      <a:accent6>
        <a:srgbClr val="F7893B"/>
      </a:accent6>
      <a:hlink>
        <a:srgbClr val="004481"/>
      </a:hlink>
      <a:folHlink>
        <a:srgbClr val="07214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